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6"/>
  </p:notesMasterIdLst>
  <p:sldIdLst>
    <p:sldId id="293" r:id="rId5"/>
    <p:sldId id="307" r:id="rId6"/>
    <p:sldId id="313" r:id="rId7"/>
    <p:sldId id="308" r:id="rId8"/>
    <p:sldId id="310" r:id="rId9"/>
    <p:sldId id="311" r:id="rId10"/>
    <p:sldId id="312" r:id="rId11"/>
    <p:sldId id="314" r:id="rId12"/>
    <p:sldId id="315" r:id="rId13"/>
    <p:sldId id="316" r:id="rId14"/>
    <p:sldId id="317" r:id="rId15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A9DC"/>
    <a:srgbClr val="3655A6"/>
    <a:srgbClr val="3B5EB7"/>
    <a:srgbClr val="2C4688"/>
    <a:srgbClr val="326063"/>
    <a:srgbClr val="68A68E"/>
    <a:srgbClr val="ABCCC0"/>
    <a:srgbClr val="4D836E"/>
    <a:srgbClr val="EEF2F2"/>
    <a:srgbClr val="D0E3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D725DA3-40F6-4B00-9265-3A15A4E81510}" v="8" dt="2026-03-31T10:22:19.21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emlayout 2 - Marker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9EFAC2-CAA8-4C26-A102-B05A6542AA2E}" type="datetimeFigureOut">
              <a:rPr lang="da-DK" smtClean="0"/>
              <a:t>31-03-2026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ECF9C7-D1BA-425F-9524-4BF3E367B98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25852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A5986-3CF3-A4DC-4F82-52D343929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AA493507-F7A7-19D1-FEAC-30EDB9E6EF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A83B46A6-E0C6-8C16-0B2C-DE08F92C90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5ED4E4BD-91D9-F554-438F-8C09AAFA70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ECF9C7-D1BA-425F-9524-4BF3E367B98B}" type="slidenum">
              <a:rPr lang="da-DK" smtClean="0"/>
              <a:t>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828380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5350C-E9B2-7BD7-63AB-3E0A189A0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BFF6F188-D2CE-D266-5F75-5B6E622584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2095E6E4-C96C-868C-2B02-3F904FD50B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D5DE2D25-4A05-DE41-79D6-AB295DFD95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ECF9C7-D1BA-425F-9524-4BF3E367B98B}" type="slidenum">
              <a:rPr lang="da-DK" smtClean="0"/>
              <a:t>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4311625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5B4D7-5A4F-B2BA-17F7-5AF4FFA39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E0BC613C-C7F1-E7A3-B819-8A8148A9B3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30D84AE6-6A11-1D4E-CE77-0040616954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54090216-1105-BD6D-E11B-830F69D699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ECF9C7-D1BA-425F-9524-4BF3E367B98B}" type="slidenum">
              <a:rPr lang="da-DK" smtClean="0"/>
              <a:t>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416983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1F210A-E0DB-D9D3-40E3-A145DE3D8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E792B953-1BCD-C0BD-2A04-2F603B7BBC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05755083-27D2-01D0-AF27-77702CC941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3C24FB43-C83E-281C-D5E7-3C4C4DAD34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ECF9C7-D1BA-425F-9524-4BF3E367B98B}" type="slidenum">
              <a:rPr lang="da-DK" smtClean="0"/>
              <a:t>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360723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49930-6E9C-A32B-9A5A-AB802DDC2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8A2E485D-56CD-8849-9525-572793685E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C0CD6FCE-FE8A-80F0-9FC5-237402CA53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E32AA8DF-9A88-BD4B-B10B-EA8C795BB4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ECF9C7-D1BA-425F-9524-4BF3E367B98B}" type="slidenum">
              <a:rPr lang="da-DK" smtClean="0"/>
              <a:t>5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9923108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BF1FE-34C3-1633-7689-BC778CBD8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21C717F8-1BAE-C6EA-82AD-E64A4B5156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6704B140-FF04-FEEB-AD1C-AC53EFB582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F46B93C5-01F0-0487-4ACA-AEF81D716F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ECF9C7-D1BA-425F-9524-4BF3E367B98B}" type="slidenum">
              <a:rPr lang="da-DK" smtClean="0"/>
              <a:t>6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087025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EB108-50BC-2F7F-EA5E-434BB5C5C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C7EA7D23-882B-DF7B-DCC4-D5006F01C8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6D7FA23C-D43E-BA58-ECC4-2A7197978F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EEF762FE-B017-3D0F-4DC0-43E489F407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ECF9C7-D1BA-425F-9524-4BF3E367B98B}" type="slidenum">
              <a:rPr lang="da-DK" smtClean="0"/>
              <a:t>7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45069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0B0A5-B4F7-8CEE-AF32-2A93A9E58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4F18AE8E-719E-9A6E-7D02-0C0E5B92EF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A4998C9A-1252-BE56-4D6E-4169AEF5E3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2293F104-9025-563C-9D71-373B8ACE25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ECF9C7-D1BA-425F-9524-4BF3E367B98B}" type="slidenum">
              <a:rPr lang="da-DK" smtClean="0"/>
              <a:t>8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824332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2E3860-993A-4F3D-E9AD-4E09ABAAB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3D1AE146-87D6-9619-137C-92CCE84AB7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EA443241-8749-0BB7-3630-01DEF9CBCF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A1653D7C-1F98-C47F-B24E-E14DA5E20A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ECF9C7-D1BA-425F-9524-4BF3E367B98B}" type="slidenum">
              <a:rPr lang="da-DK" smtClean="0"/>
              <a:t>9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0106323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6412F-3B59-BBD3-2CA5-372A26032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9EA3A1E3-CF95-8B00-7DCF-5EE0126FB7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02953548-EC49-7B67-6EB4-E33C7625A4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541BF0CB-F896-938E-434A-426B90BB5E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ECF9C7-D1BA-425F-9524-4BF3E367B98B}" type="slidenum">
              <a:rPr lang="da-DK" smtClean="0"/>
              <a:t>10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7978742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3E102-1A30-31FA-CE9B-FA01C8D1D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44DD33A0-4AA8-189C-1DDE-0891414BE7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830CF9C4-41ED-982A-26AE-83D32C18B8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3B74FBDF-8EAC-F21A-6EC0-C727D37644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ECF9C7-D1BA-425F-9524-4BF3E367B98B}" type="slidenum">
              <a:rPr lang="da-DK" smtClean="0"/>
              <a:t>11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534260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DFEBFF-7A55-6A26-1B55-31D89164B6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9495899B-CD02-6AA9-DF41-724DD5A7A7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C4199BCB-1B71-C947-B591-D646D7BA3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332E6-F494-4368-97C1-514ABDFF7489}" type="datetime1">
              <a:rPr lang="da-DK" smtClean="0"/>
              <a:t>31-03-2026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F41D043E-8A77-47F9-4693-23D3217A0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8697C2FE-321E-E181-5853-B2A4DD84D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56B02-4AF6-4FAD-8624-917FD1E581F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322135078"/>
      </p:ext>
    </p:extLst>
  </p:cSld>
  <p:clrMapOvr>
    <a:masterClrMapping/>
  </p:clrMapOvr>
  <p:transition spd="slow">
    <p:push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1D0CDC-CECC-54E1-DA3E-104DC9155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C38B14A5-8C46-C634-1813-51EA4B8DDA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21E2CC94-0AF7-2B58-CE1C-E40146EE7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B7D05-3B1B-476A-93CE-8E1927AA511B}" type="datetime1">
              <a:rPr lang="da-DK" smtClean="0"/>
              <a:t>31-03-2026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E8F41E05-CFC5-DB17-012C-CF7734278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58972367-2D8B-CDC4-E6F6-395580F7B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56B02-4AF6-4FAD-8624-917FD1E581F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6263020"/>
      </p:ext>
    </p:extLst>
  </p:cSld>
  <p:clrMapOvr>
    <a:masterClrMapping/>
  </p:clrMapOvr>
  <p:transition spd="slow">
    <p:push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352474-76BA-4C4D-D9AB-814801F45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17DA833F-30BC-7E38-F5B5-BCA729D44A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5FD86313-E12F-7CE9-BBCB-6520EDF58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861A2-E5BC-4A90-8F05-1A960DB8C22A}" type="datetime1">
              <a:rPr lang="da-DK" smtClean="0"/>
              <a:t>31-03-2026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DEA54902-4605-5ED6-75EC-ED4DB2E03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22B4A159-C3C0-51E1-32B7-EEA5A2910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56B02-4AF6-4FAD-8624-917FD1E581F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185002080"/>
      </p:ext>
    </p:extLst>
  </p:cSld>
  <p:clrMapOvr>
    <a:masterClrMapping/>
  </p:clrMapOvr>
  <p:transition spd="slow">
    <p:push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A58863B-CBA4-4F52-0D4A-297B80B58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8D8BAEC8-EE09-53B6-D595-50E1A768B4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02C9B15A-AF2F-5A1B-F32E-4E81ADEF3C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7DBE642F-0498-3FE2-8376-7D38EDCAB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023AE-8A67-41E3-AD31-4F52660CDCC3}" type="datetime1">
              <a:rPr lang="da-DK" smtClean="0"/>
              <a:t>31-03-2026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5CE9EB19-2077-883B-DB2D-A070A11D5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E7357521-A00E-B2A1-F457-D948D00CD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56B02-4AF6-4FAD-8624-917FD1E581F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26498022"/>
      </p:ext>
    </p:extLst>
  </p:cSld>
  <p:clrMapOvr>
    <a:masterClrMapping/>
  </p:clrMapOvr>
  <p:transition spd="slow">
    <p:push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005213-12AE-6CD4-FFBA-5AE2B27DB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F553E986-3354-792E-C1ED-8002655BB1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9374ABBD-AEC1-6E9C-7D0B-23501475D5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D46F4983-8FD9-D9B0-F94D-D9977C6EAC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4BC184DD-E7C0-B482-49DF-377C47F477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>
            <a:extLst>
              <a:ext uri="{FF2B5EF4-FFF2-40B4-BE49-F238E27FC236}">
                <a16:creationId xmlns:a16="http://schemas.microsoft.com/office/drawing/2014/main" id="{B7BBEC05-03DB-5CF6-82AB-5BCA86903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559C-0F19-43C8-A1E5-CF6E5F861D21}" type="datetime1">
              <a:rPr lang="da-DK" smtClean="0"/>
              <a:t>31-03-2026</a:t>
            </a:fld>
            <a:endParaRPr lang="da-DK"/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E1204539-29EF-5B9B-C772-B8CE0DD31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A9D6AFCC-1B31-EF0E-4A00-B5CA1F7FF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56B02-4AF6-4FAD-8624-917FD1E581F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18230576"/>
      </p:ext>
    </p:extLst>
  </p:cSld>
  <p:clrMapOvr>
    <a:masterClrMapping/>
  </p:clrMapOvr>
  <p:transition spd="slow">
    <p:push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71010A-D2F8-E0E3-B5A7-568E9D248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6A7B4F3B-2F00-43D0-081D-1A3850CE3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E7C2D-85D7-4702-B890-702C36AE9128}" type="datetime1">
              <a:rPr lang="da-DK" smtClean="0"/>
              <a:t>31-03-2026</a:t>
            </a:fld>
            <a:endParaRPr lang="da-DK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D28B372C-C89A-D870-1E08-C57FEF530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9F798EBC-A9C5-D03D-C701-B7019C0F4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56B02-4AF6-4FAD-8624-917FD1E581F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32738539"/>
      </p:ext>
    </p:extLst>
  </p:cSld>
  <p:clrMapOvr>
    <a:masterClrMapping/>
  </p:clrMapOvr>
  <p:transition spd="slow">
    <p:push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>
            <a:extLst>
              <a:ext uri="{FF2B5EF4-FFF2-40B4-BE49-F238E27FC236}">
                <a16:creationId xmlns:a16="http://schemas.microsoft.com/office/drawing/2014/main" id="{D6CF1503-063B-FB97-8A34-62253DB64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5CFEA-B7AB-4D9B-AC35-1CF9136F942B}" type="datetime1">
              <a:rPr lang="da-DK" smtClean="0"/>
              <a:t>31-03-2026</a:t>
            </a:fld>
            <a:endParaRPr lang="da-DK"/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857DA6F2-AD34-F48C-60ED-C3D25317F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7C23836C-C589-B82E-6EF4-6D1B96531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56B02-4AF6-4FAD-8624-917FD1E581F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05727517"/>
      </p:ext>
    </p:extLst>
  </p:cSld>
  <p:clrMapOvr>
    <a:masterClrMapping/>
  </p:clrMapOvr>
  <p:transition spd="slow">
    <p:push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2A13FD-F290-ABD0-583C-D86F2F01B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733DB6CF-F07F-CF3D-1FE8-FCCA16F436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5DFA81D0-11AC-D379-1B88-52DEF0BDCA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104E80E5-E933-235C-A8BE-87A7A15E4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9761F-7661-47F8-BFAA-F3644C45B4F1}" type="datetime1">
              <a:rPr lang="da-DK" smtClean="0"/>
              <a:t>31-03-2026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CA101950-0C00-FF5B-69DC-980B12DA6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73D25D43-C01F-898E-947C-5B736C761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56B02-4AF6-4FAD-8624-917FD1E581F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42376837"/>
      </p:ext>
    </p:extLst>
  </p:cSld>
  <p:clrMapOvr>
    <a:masterClrMapping/>
  </p:clrMapOvr>
  <p:transition spd="slow">
    <p:push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1319ACE-65C4-F7C5-4A66-DC55D7EBD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billede 2">
            <a:extLst>
              <a:ext uri="{FF2B5EF4-FFF2-40B4-BE49-F238E27FC236}">
                <a16:creationId xmlns:a16="http://schemas.microsoft.com/office/drawing/2014/main" id="{9D28E6C7-745A-C059-39B7-1556D55B67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a-DK"/>
              <a:t>Klik på ikonet for at tilføje et billede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D6F7DDE0-5792-747A-A171-358F04CCEF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39378F4C-7B40-290E-AC0A-184C6480E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636D1-A74B-4339-83DC-3AC10AF76DE8}" type="datetime1">
              <a:rPr lang="da-DK" smtClean="0"/>
              <a:t>31-03-2026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DFD2CEF0-C2D3-A2EC-9FEC-365B7666B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8058D538-9165-A2A6-084B-F28555806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56B02-4AF6-4FAD-8624-917FD1E581F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21592061"/>
      </p:ext>
    </p:extLst>
  </p:cSld>
  <p:clrMapOvr>
    <a:masterClrMapping/>
  </p:clrMapOvr>
  <p:transition spd="slow">
    <p:push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71C54E-CE78-4B28-B5B7-2DE894286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F9CEADF7-990C-CDAA-F734-38FE4DCDC1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59051D0D-5089-530D-1512-4FF747755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225F9-DCE1-48CF-A60C-3F140F9CBAD8}" type="datetime1">
              <a:rPr lang="da-DK" smtClean="0"/>
              <a:t>31-03-2026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C38BF7C9-5C1C-750C-0406-15788579E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CC24D9CB-F416-6DB2-865F-95FCF2F5F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56B02-4AF6-4FAD-8624-917FD1E581F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03065274"/>
      </p:ext>
    </p:extLst>
  </p:cSld>
  <p:clrMapOvr>
    <a:masterClrMapping/>
  </p:clrMapOvr>
  <p:transition spd="slow">
    <p:push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>
            <a:extLst>
              <a:ext uri="{FF2B5EF4-FFF2-40B4-BE49-F238E27FC236}">
                <a16:creationId xmlns:a16="http://schemas.microsoft.com/office/drawing/2014/main" id="{320F32C6-976C-3B68-1B45-66A5A55DF4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9786DBCD-D3C8-A4F6-9AF9-B80738A064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A2E276A2-1D23-D8B7-D3C3-5D705AAF8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374F6-BA4E-45BD-9299-F0B4D2AEB753}" type="datetime1">
              <a:rPr lang="da-DK" smtClean="0"/>
              <a:t>31-03-2026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ACED4DE2-4ACE-1171-1470-2FECF5A8D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F0986D5C-E4C1-0598-07C7-8B0BA4162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56B02-4AF6-4FAD-8624-917FD1E581F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75771229"/>
      </p:ext>
    </p:extLst>
  </p:cSld>
  <p:clrMapOvr>
    <a:masterClrMapping/>
  </p:clrMapOvr>
  <p:transition spd="slow">
    <p:push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>
            <a:extLst>
              <a:ext uri="{FF2B5EF4-FFF2-40B4-BE49-F238E27FC236}">
                <a16:creationId xmlns:a16="http://schemas.microsoft.com/office/drawing/2014/main" id="{AE5C346D-711A-32D0-673C-BBF51D509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B849FE7A-F6F6-525C-3BDD-A633F3EC60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6752E26C-0C81-374F-B5FD-95BDD09FC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099E16-850A-47CB-B103-1048DBDB4CCB}" type="datetime1">
              <a:rPr lang="da-DK" smtClean="0"/>
              <a:t>31-03-2026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99EEC06D-D19C-449A-EEE9-139DFA066E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BA5664C8-FB83-198F-9DC5-E27BAB831A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F56B02-4AF6-4FAD-8624-917FD1E581F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998768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push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5EB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F48179-DE7C-7D65-D53F-F1BEFF172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7">
            <a:extLst>
              <a:ext uri="{FF2B5EF4-FFF2-40B4-BE49-F238E27FC236}">
                <a16:creationId xmlns:a16="http://schemas.microsoft.com/office/drawing/2014/main" id="{739CA70D-9BE0-0084-BAE1-3598C7B60C15}"/>
              </a:ext>
            </a:extLst>
          </p:cNvPr>
          <p:cNvSpPr/>
          <p:nvPr/>
        </p:nvSpPr>
        <p:spPr>
          <a:xfrm>
            <a:off x="229969" y="5820504"/>
            <a:ext cx="5285161" cy="734132"/>
          </a:xfrm>
          <a:prstGeom prst="rect">
            <a:avLst/>
          </a:prstGeom>
          <a:solidFill>
            <a:srgbClr val="3655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3C3DCE8A-3450-3756-F020-B8CA931B4C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8920" y="4767018"/>
            <a:ext cx="5514737" cy="734131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algn="l"/>
            <a:r>
              <a:rPr lang="en-US" sz="1900" b="1" noProof="0">
                <a:solidFill>
                  <a:srgbClr val="94A9DC"/>
                </a:solidFill>
              </a:rPr>
              <a:t>Bachelor project, 2026</a:t>
            </a:r>
          </a:p>
          <a:p>
            <a:pPr algn="l"/>
            <a:r>
              <a:rPr lang="en-US" sz="1900" b="1">
                <a:solidFill>
                  <a:srgbClr val="94A9DC"/>
                </a:solidFill>
              </a:rPr>
              <a:t>Meeting 3, date: 25-03-2026</a:t>
            </a:r>
          </a:p>
        </p:txBody>
      </p:sp>
      <p:pic>
        <p:nvPicPr>
          <p:cNvPr id="11" name="Billede 10" descr="Et billede, der indeholder Font/skrifttype, Grafik, logo, design&#10;&#10;AI-genereret indhold kan være ukorrekt.">
            <a:extLst>
              <a:ext uri="{FF2B5EF4-FFF2-40B4-BE49-F238E27FC236}">
                <a16:creationId xmlns:a16="http://schemas.microsoft.com/office/drawing/2014/main" id="{58A9BEA7-4018-11C6-E1EC-880A95898A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920" y="249258"/>
            <a:ext cx="538449" cy="769213"/>
          </a:xfrm>
          <a:prstGeom prst="rect">
            <a:avLst/>
          </a:prstGeom>
        </p:spPr>
      </p:pic>
      <p:sp>
        <p:nvSpPr>
          <p:cNvPr id="6" name="Titel 1">
            <a:extLst>
              <a:ext uri="{FF2B5EF4-FFF2-40B4-BE49-F238E27FC236}">
                <a16:creationId xmlns:a16="http://schemas.microsoft.com/office/drawing/2014/main" id="{C96A0BBB-BDA2-328E-E43F-B8A17B842215}"/>
              </a:ext>
            </a:extLst>
          </p:cNvPr>
          <p:cNvSpPr txBox="1">
            <a:spLocks/>
          </p:cNvSpPr>
          <p:nvPr/>
        </p:nvSpPr>
        <p:spPr>
          <a:xfrm>
            <a:off x="229969" y="5469149"/>
            <a:ext cx="3172076" cy="109779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200" b="1" noProof="0">
                <a:solidFill>
                  <a:srgbClr val="94A9DC"/>
                </a:solidFill>
              </a:rPr>
              <a:t>GROUP 3</a:t>
            </a:r>
          </a:p>
          <a:p>
            <a:pPr algn="l"/>
            <a:r>
              <a:rPr lang="en-US" sz="1200" b="1" noProof="0">
                <a:solidFill>
                  <a:srgbClr val="94A9DC"/>
                </a:solidFill>
              </a:rPr>
              <a:t>Eske Freiesleben</a:t>
            </a:r>
          </a:p>
          <a:p>
            <a:pPr algn="l"/>
            <a:r>
              <a:rPr lang="en-US" sz="1200" b="1" noProof="0">
                <a:solidFill>
                  <a:srgbClr val="94A9DC"/>
                </a:solidFill>
              </a:rPr>
              <a:t>Jacob Manniche</a:t>
            </a:r>
            <a:endParaRPr lang="en-US" sz="1200" noProof="0">
              <a:solidFill>
                <a:srgbClr val="94A9DC"/>
              </a:solidFill>
            </a:endParaRPr>
          </a:p>
          <a:p>
            <a:pPr algn="l"/>
            <a:r>
              <a:rPr lang="en-US" sz="1200" b="1" noProof="0">
                <a:solidFill>
                  <a:srgbClr val="94A9DC"/>
                </a:solidFill>
              </a:rPr>
              <a:t>J. Alfred Pedersen</a:t>
            </a:r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57DD1288-530D-2107-76AC-2F6955790447}"/>
              </a:ext>
            </a:extLst>
          </p:cNvPr>
          <p:cNvSpPr txBox="1">
            <a:spLocks/>
          </p:cNvSpPr>
          <p:nvPr/>
        </p:nvSpPr>
        <p:spPr>
          <a:xfrm>
            <a:off x="3854296" y="5501149"/>
            <a:ext cx="1669953" cy="107318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1200" b="1" noProof="0">
                <a:solidFill>
                  <a:srgbClr val="94A9DC"/>
                </a:solidFill>
              </a:rPr>
              <a:t>Student ID</a:t>
            </a:r>
            <a:endParaRPr lang="en-US" sz="1200" noProof="0">
              <a:solidFill>
                <a:srgbClr val="94A9DC"/>
              </a:solidFill>
            </a:endParaRPr>
          </a:p>
          <a:p>
            <a:pPr algn="r"/>
            <a:r>
              <a:rPr lang="en-US" sz="1200" b="1" noProof="0">
                <a:solidFill>
                  <a:srgbClr val="94A9DC"/>
                </a:solidFill>
              </a:rPr>
              <a:t>S234229</a:t>
            </a:r>
            <a:endParaRPr lang="en-US" sz="1200" noProof="0">
              <a:solidFill>
                <a:srgbClr val="94A9DC"/>
              </a:solidFill>
            </a:endParaRPr>
          </a:p>
          <a:p>
            <a:pPr algn="r"/>
            <a:r>
              <a:rPr lang="en-US" sz="1200" b="1" noProof="0">
                <a:solidFill>
                  <a:srgbClr val="94A9DC"/>
                </a:solidFill>
              </a:rPr>
              <a:t>S234258</a:t>
            </a:r>
            <a:endParaRPr lang="en-US" sz="1200" noProof="0">
              <a:solidFill>
                <a:srgbClr val="94A9DC"/>
              </a:solidFill>
            </a:endParaRPr>
          </a:p>
          <a:p>
            <a:pPr algn="r"/>
            <a:r>
              <a:rPr lang="en-US" sz="1200" b="1" noProof="0">
                <a:solidFill>
                  <a:srgbClr val="94A9DC"/>
                </a:solidFill>
              </a:rPr>
              <a:t>S230869</a:t>
            </a:r>
            <a:endParaRPr lang="en-US" sz="1200" noProof="0">
              <a:solidFill>
                <a:srgbClr val="94A9DC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6A5920-B537-C091-61E5-42EA09F8D89C}"/>
              </a:ext>
            </a:extLst>
          </p:cNvPr>
          <p:cNvSpPr/>
          <p:nvPr/>
        </p:nvSpPr>
        <p:spPr>
          <a:xfrm>
            <a:off x="6215908" y="366819"/>
            <a:ext cx="5611710" cy="6187817"/>
          </a:xfrm>
          <a:prstGeom prst="rect">
            <a:avLst/>
          </a:prstGeom>
          <a:solidFill>
            <a:srgbClr val="3655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a-DK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D4746D4-ECF6-A1C8-C827-186F51BB09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9968" y="2511598"/>
            <a:ext cx="7523548" cy="2247880"/>
          </a:xfrm>
        </p:spPr>
        <p:txBody>
          <a:bodyPr>
            <a:noAutofit/>
          </a:bodyPr>
          <a:lstStyle/>
          <a:p>
            <a:pPr algn="l"/>
            <a:br>
              <a:rPr lang="en-US" sz="4800" b="1" noProof="0"/>
            </a:br>
            <a:r>
              <a:rPr lang="en-US" sz="4800" b="1">
                <a:solidFill>
                  <a:schemeClr val="bg1"/>
                </a:solidFill>
              </a:rPr>
              <a:t>Working title: </a:t>
            </a:r>
            <a:br>
              <a:rPr lang="en-US" sz="4800" b="1">
                <a:solidFill>
                  <a:schemeClr val="bg1"/>
                </a:solidFill>
              </a:rPr>
            </a:br>
            <a:r>
              <a:rPr lang="en-US" sz="4800" b="1">
                <a:solidFill>
                  <a:schemeClr val="bg1"/>
                </a:solidFill>
              </a:rPr>
              <a:t>CFD</a:t>
            </a:r>
            <a:r>
              <a:rPr lang="en-US" sz="4800" b="1" noProof="0">
                <a:solidFill>
                  <a:schemeClr val="bg1"/>
                </a:solidFill>
              </a:rPr>
              <a:t> and ROM of Flow </a:t>
            </a:r>
            <a:br>
              <a:rPr lang="en-US" sz="4800" b="1" noProof="0"/>
            </a:br>
            <a:r>
              <a:rPr lang="en-US" sz="4800" b="1" noProof="0">
                <a:solidFill>
                  <a:schemeClr val="bg1"/>
                </a:solidFill>
              </a:rPr>
              <a:t>over a Golf Court</a:t>
            </a:r>
            <a:endParaRPr lang="en-US" sz="4400" b="1" noProof="0">
              <a:solidFill>
                <a:schemeClr val="bg1"/>
              </a:solidFill>
            </a:endParaRPr>
          </a:p>
        </p:txBody>
      </p:sp>
      <p:sp>
        <p:nvSpPr>
          <p:cNvPr id="4" name="Tekstfelt 3">
            <a:extLst>
              <a:ext uri="{FF2B5EF4-FFF2-40B4-BE49-F238E27FC236}">
                <a16:creationId xmlns:a16="http://schemas.microsoft.com/office/drawing/2014/main" id="{32566417-13F7-C252-C7EA-202A4DBC891F}"/>
              </a:ext>
            </a:extLst>
          </p:cNvPr>
          <p:cNvSpPr txBox="1"/>
          <p:nvPr/>
        </p:nvSpPr>
        <p:spPr>
          <a:xfrm>
            <a:off x="4826000" y="32190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79633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2206BC-1FF2-75AF-753C-A2E4FBF24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ktangel: afrundede hjørner 11">
            <a:extLst>
              <a:ext uri="{FF2B5EF4-FFF2-40B4-BE49-F238E27FC236}">
                <a16:creationId xmlns:a16="http://schemas.microsoft.com/office/drawing/2014/main" id="{FCA34A90-8126-A9A9-2EB5-8E4850EC78B0}"/>
              </a:ext>
            </a:extLst>
          </p:cNvPr>
          <p:cNvSpPr/>
          <p:nvPr/>
        </p:nvSpPr>
        <p:spPr>
          <a:xfrm>
            <a:off x="213360" y="361542"/>
            <a:ext cx="11765280" cy="581420"/>
          </a:xfrm>
          <a:prstGeom prst="round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C52BDFD-3BB6-F0F7-8985-623067D732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3360" y="281412"/>
            <a:ext cx="11765280" cy="741680"/>
          </a:xfrm>
        </p:spPr>
        <p:txBody>
          <a:bodyPr>
            <a:normAutofit fontScale="90000"/>
          </a:bodyPr>
          <a:lstStyle/>
          <a:p>
            <a:pPr algn="l"/>
            <a:r>
              <a:rPr lang="en-US" sz="4800" b="1" dirty="0">
                <a:solidFill>
                  <a:schemeClr val="bg1"/>
                </a:solidFill>
              </a:rPr>
              <a:t>Table of contents</a:t>
            </a:r>
            <a:endParaRPr lang="en-US" sz="4800" b="1" noProof="0" dirty="0">
              <a:solidFill>
                <a:schemeClr val="bg1"/>
              </a:solidFill>
            </a:endParaRP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FE5A6319-58CE-B124-30E1-0C064A96929B}"/>
              </a:ext>
            </a:extLst>
          </p:cNvPr>
          <p:cNvSpPr/>
          <p:nvPr/>
        </p:nvSpPr>
        <p:spPr>
          <a:xfrm>
            <a:off x="0" y="6315035"/>
            <a:ext cx="12192000" cy="562708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Tekstfelt 7">
            <a:extLst>
              <a:ext uri="{FF2B5EF4-FFF2-40B4-BE49-F238E27FC236}">
                <a16:creationId xmlns:a16="http://schemas.microsoft.com/office/drawing/2014/main" id="{316F2C42-D2D3-621B-A470-C0CB61B33DDD}"/>
              </a:ext>
            </a:extLst>
          </p:cNvPr>
          <p:cNvSpPr txBox="1"/>
          <p:nvPr/>
        </p:nvSpPr>
        <p:spPr>
          <a:xfrm>
            <a:off x="0" y="6334780"/>
            <a:ext cx="5598160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400" noProof="0">
                <a:solidFill>
                  <a:srgbClr val="D6E1E1"/>
                </a:solidFill>
              </a:rPr>
              <a:t>Bachelor project: </a:t>
            </a:r>
          </a:p>
          <a:p>
            <a:r>
              <a:rPr lang="en-US" sz="1400" b="1" noProof="0">
                <a:solidFill>
                  <a:srgbClr val="D6E1E1"/>
                </a:solidFill>
              </a:rPr>
              <a:t>CFD and ROM of Flow over a Golf Court</a:t>
            </a:r>
            <a:endParaRPr lang="en-US" sz="1400" noProof="0">
              <a:solidFill>
                <a:srgbClr val="D6E1E1"/>
              </a:solidFill>
            </a:endParaRPr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FEFD2821-04ED-B3D6-AC8E-AC40AB754B24}"/>
              </a:ext>
            </a:extLst>
          </p:cNvPr>
          <p:cNvSpPr/>
          <p:nvPr/>
        </p:nvSpPr>
        <p:spPr>
          <a:xfrm>
            <a:off x="0" y="0"/>
            <a:ext cx="12192000" cy="162560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Pladsholder til slidenummer 10">
            <a:extLst>
              <a:ext uri="{FF2B5EF4-FFF2-40B4-BE49-F238E27FC236}">
                <a16:creationId xmlns:a16="http://schemas.microsoft.com/office/drawing/2014/main" id="{C6A5359B-E879-8F19-F543-84A1F9A68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7680" y="6413826"/>
            <a:ext cx="2743200" cy="365125"/>
          </a:xfrm>
        </p:spPr>
        <p:txBody>
          <a:bodyPr/>
          <a:lstStyle/>
          <a:p>
            <a:fld id="{4BF56B02-4AF6-4FAD-8624-917FD1E581F9}" type="slidenum">
              <a:rPr lang="en-US" sz="1600" b="1" noProof="0" smtClean="0">
                <a:solidFill>
                  <a:srgbClr val="D6E1E1"/>
                </a:solidFill>
              </a:rPr>
              <a:t>2</a:t>
            </a:fld>
            <a:endParaRPr lang="en-US" b="1" noProof="0">
              <a:solidFill>
                <a:srgbClr val="D6E1E1"/>
              </a:solidFill>
            </a:endParaRPr>
          </a:p>
        </p:txBody>
      </p:sp>
      <p:sp>
        <p:nvSpPr>
          <p:cNvPr id="4" name="Tekstfelt 3">
            <a:extLst>
              <a:ext uri="{FF2B5EF4-FFF2-40B4-BE49-F238E27FC236}">
                <a16:creationId xmlns:a16="http://schemas.microsoft.com/office/drawing/2014/main" id="{FA9FFD4E-F14B-ACB1-BABF-C84178B17462}"/>
              </a:ext>
            </a:extLst>
          </p:cNvPr>
          <p:cNvSpPr txBox="1"/>
          <p:nvPr/>
        </p:nvSpPr>
        <p:spPr>
          <a:xfrm>
            <a:off x="213360" y="1103222"/>
            <a:ext cx="11765279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/>
              <a:t>General progress and theory</a:t>
            </a:r>
          </a:p>
          <a:p>
            <a:r>
              <a:rPr lang="en-GB" sz="2000" b="1" dirty="0"/>
              <a:t>	3-4:</a:t>
            </a:r>
            <a:r>
              <a:rPr lang="en-GB" sz="2000" i="1" dirty="0"/>
              <a:t> </a:t>
            </a:r>
            <a:r>
              <a:rPr lang="en-GB" sz="2000" dirty="0"/>
              <a:t>We looked into the stability term for the 2D logarithmic wind profile</a:t>
            </a:r>
          </a:p>
          <a:p>
            <a:r>
              <a:rPr lang="en-GB" sz="2000" b="1" dirty="0"/>
              <a:t>	5-6: </a:t>
            </a:r>
            <a:r>
              <a:rPr lang="en-GB" sz="2000" dirty="0"/>
              <a:t>We investigated how flow over a Gaussian hill can be approximated (again 2D using 	  	          logarithmic profile)</a:t>
            </a:r>
          </a:p>
          <a:p>
            <a:r>
              <a:rPr lang="en-GB" sz="2000" b="1" dirty="0"/>
              <a:t>	7: </a:t>
            </a:r>
            <a:r>
              <a:rPr lang="en-GB" sz="2000" dirty="0"/>
              <a:t>We found a data-slice for a RANS simulation over a Gaussian hill, and to understand the data 	     structure and how to visualize it, we plotted the velocity and turbulence intensity over the hill</a:t>
            </a:r>
            <a:endParaRPr lang="en-GB" sz="2000" b="1" dirty="0"/>
          </a:p>
          <a:p>
            <a:endParaRPr lang="en-GB" sz="2000" b="1" dirty="0"/>
          </a:p>
          <a:p>
            <a:r>
              <a:rPr lang="en-GB" sz="2000" b="1" dirty="0"/>
              <a:t>Structure and Gantt-diagram</a:t>
            </a:r>
          </a:p>
          <a:p>
            <a:r>
              <a:rPr lang="en-GB" sz="2000" b="1" dirty="0"/>
              <a:t>	8-9: </a:t>
            </a:r>
            <a:r>
              <a:rPr lang="en-GB" sz="2000" dirty="0"/>
              <a:t>Structure update including our estimate of a step-by-step approach and updated GANTT 	         diagram</a:t>
            </a:r>
          </a:p>
          <a:p>
            <a:endParaRPr lang="en-GB" sz="2000" b="1" dirty="0"/>
          </a:p>
          <a:p>
            <a:r>
              <a:rPr lang="en-GB" sz="2000" b="1" dirty="0"/>
              <a:t>Non-disclosure agreement</a:t>
            </a:r>
          </a:p>
          <a:p>
            <a:r>
              <a:rPr lang="en-GB" sz="2000" b="1" dirty="0"/>
              <a:t>	10: </a:t>
            </a:r>
            <a:r>
              <a:rPr lang="en-GB" sz="2000" dirty="0"/>
              <a:t>Update on the NDA</a:t>
            </a:r>
          </a:p>
          <a:p>
            <a:r>
              <a:rPr lang="en-GB" sz="2000" b="1" dirty="0" err="1"/>
              <a:t>Gbar</a:t>
            </a:r>
            <a:r>
              <a:rPr lang="en-GB" sz="2000" b="1" dirty="0"/>
              <a:t> update</a:t>
            </a:r>
          </a:p>
          <a:p>
            <a:r>
              <a:rPr lang="en-GB" sz="2000" b="1" dirty="0"/>
              <a:t>	11: </a:t>
            </a:r>
            <a:r>
              <a:rPr lang="en-GB" sz="2000" dirty="0"/>
              <a:t>Status on </a:t>
            </a:r>
            <a:r>
              <a:rPr lang="en-GB" sz="2000" dirty="0" err="1"/>
              <a:t>Gbar</a:t>
            </a:r>
            <a:endParaRPr lang="en-GB" sz="2000" b="1" dirty="0"/>
          </a:p>
          <a:p>
            <a:endParaRPr lang="en-GB" sz="2000" i="1" dirty="0"/>
          </a:p>
          <a:p>
            <a:endParaRPr lang="en-GB" sz="2000" i="1" dirty="0"/>
          </a:p>
        </p:txBody>
      </p:sp>
    </p:spTree>
    <p:extLst>
      <p:ext uri="{BB962C8B-B14F-4D97-AF65-F5344CB8AC3E}">
        <p14:creationId xmlns:p14="http://schemas.microsoft.com/office/powerpoint/2010/main" val="1652593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57BC03-4E4E-EC84-0A09-C5E40CBEE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ktangel: afrundede hjørner 11">
            <a:extLst>
              <a:ext uri="{FF2B5EF4-FFF2-40B4-BE49-F238E27FC236}">
                <a16:creationId xmlns:a16="http://schemas.microsoft.com/office/drawing/2014/main" id="{2604CCB3-C643-0806-6EF4-A46743A70F49}"/>
              </a:ext>
            </a:extLst>
          </p:cNvPr>
          <p:cNvSpPr/>
          <p:nvPr/>
        </p:nvSpPr>
        <p:spPr>
          <a:xfrm>
            <a:off x="213360" y="361542"/>
            <a:ext cx="11765280" cy="581420"/>
          </a:xfrm>
          <a:prstGeom prst="round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709435C-6ABF-27E5-020E-61955A3612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3360" y="281412"/>
            <a:ext cx="11765280" cy="741680"/>
          </a:xfrm>
        </p:spPr>
        <p:txBody>
          <a:bodyPr>
            <a:normAutofit fontScale="90000"/>
          </a:bodyPr>
          <a:lstStyle/>
          <a:p>
            <a:pPr algn="l"/>
            <a:r>
              <a:rPr lang="en-US" sz="4800" b="1" noProof="0">
                <a:solidFill>
                  <a:schemeClr val="bg1"/>
                </a:solidFill>
              </a:rPr>
              <a:t>Stability (1/2)</a:t>
            </a: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E22E63E1-1D3D-FBDB-0248-82CB06B69B40}"/>
              </a:ext>
            </a:extLst>
          </p:cNvPr>
          <p:cNvSpPr/>
          <p:nvPr/>
        </p:nvSpPr>
        <p:spPr>
          <a:xfrm>
            <a:off x="0" y="6315035"/>
            <a:ext cx="12192000" cy="562708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Tekstfelt 7">
            <a:extLst>
              <a:ext uri="{FF2B5EF4-FFF2-40B4-BE49-F238E27FC236}">
                <a16:creationId xmlns:a16="http://schemas.microsoft.com/office/drawing/2014/main" id="{EC696A4C-6C97-FFF4-AFBC-BBF8D77F7C32}"/>
              </a:ext>
            </a:extLst>
          </p:cNvPr>
          <p:cNvSpPr txBox="1"/>
          <p:nvPr/>
        </p:nvSpPr>
        <p:spPr>
          <a:xfrm>
            <a:off x="0" y="6334780"/>
            <a:ext cx="5598160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400" noProof="0">
                <a:solidFill>
                  <a:srgbClr val="D6E1E1"/>
                </a:solidFill>
              </a:rPr>
              <a:t>Bachelor project: </a:t>
            </a:r>
          </a:p>
          <a:p>
            <a:r>
              <a:rPr lang="en-US" sz="1400" b="1" noProof="0">
                <a:solidFill>
                  <a:srgbClr val="D6E1E1"/>
                </a:solidFill>
              </a:rPr>
              <a:t>CFD and ROM of Flow over a Golf Court</a:t>
            </a:r>
            <a:endParaRPr lang="en-US" sz="1400" noProof="0">
              <a:solidFill>
                <a:srgbClr val="D6E1E1"/>
              </a:solidFill>
            </a:endParaRPr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C2C9D66B-487E-636B-513A-587B07579C20}"/>
              </a:ext>
            </a:extLst>
          </p:cNvPr>
          <p:cNvSpPr/>
          <p:nvPr/>
        </p:nvSpPr>
        <p:spPr>
          <a:xfrm>
            <a:off x="0" y="0"/>
            <a:ext cx="12192000" cy="162560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Pladsholder til slidenummer 10">
            <a:extLst>
              <a:ext uri="{FF2B5EF4-FFF2-40B4-BE49-F238E27FC236}">
                <a16:creationId xmlns:a16="http://schemas.microsoft.com/office/drawing/2014/main" id="{DCF97844-A551-07F4-82FF-CC95FD885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7680" y="6413826"/>
            <a:ext cx="2743200" cy="365125"/>
          </a:xfrm>
        </p:spPr>
        <p:txBody>
          <a:bodyPr/>
          <a:lstStyle/>
          <a:p>
            <a:fld id="{4BF56B02-4AF6-4FAD-8624-917FD1E581F9}" type="slidenum">
              <a:rPr lang="en-US" sz="1600" b="1" noProof="0" smtClean="0">
                <a:solidFill>
                  <a:srgbClr val="D6E1E1"/>
                </a:solidFill>
              </a:rPr>
              <a:t>3</a:t>
            </a:fld>
            <a:endParaRPr lang="en-US" b="1" noProof="0">
              <a:solidFill>
                <a:srgbClr val="D6E1E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CC046D-C7BA-1364-969A-C1AB09BEF71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604" r="47356" b="-295"/>
          <a:stretch>
            <a:fillRect/>
          </a:stretch>
        </p:blipFill>
        <p:spPr>
          <a:xfrm>
            <a:off x="6177271" y="991576"/>
            <a:ext cx="5801369" cy="519553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kstfelt 12">
                <a:extLst>
                  <a:ext uri="{FF2B5EF4-FFF2-40B4-BE49-F238E27FC236}">
                    <a16:creationId xmlns:a16="http://schemas.microsoft.com/office/drawing/2014/main" id="{B0706683-261F-83F5-312B-F5503D08B2C2}"/>
                  </a:ext>
                </a:extLst>
              </p:cNvPr>
              <p:cNvSpPr txBox="1"/>
              <p:nvPr/>
            </p:nvSpPr>
            <p:spPr>
              <a:xfrm>
                <a:off x="213361" y="1103222"/>
                <a:ext cx="6138278" cy="50167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For the vertical mean wind speed profile </a:t>
                </a:r>
                <a:r>
                  <a:rPr lang="en-GB" sz="2000" i="1" dirty="0"/>
                  <a:t>U(z)</a:t>
                </a:r>
                <a:r>
                  <a:rPr lang="en-GB" sz="2000" dirty="0"/>
                  <a:t>, we looked into the stability term </a:t>
                </a:r>
                <a14:m>
                  <m:oMath xmlns:m="http://schemas.openxmlformats.org/officeDocument/2006/math">
                    <m:r>
                      <a:rPr lang="da-DK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𝜓</m:t>
                    </m:r>
                  </m:oMath>
                </a14:m>
                <a:endParaRPr lang="en-GB" sz="2000" dirty="0"/>
              </a:p>
              <a:p>
                <a:endParaRPr lang="en-GB" sz="2000" dirty="0"/>
              </a:p>
              <a:p>
                <a:endParaRPr lang="en-GB" sz="2000" dirty="0"/>
              </a:p>
              <a:p>
                <a:endParaRPr lang="en-GB" sz="2000" dirty="0"/>
              </a:p>
              <a:p>
                <a:r>
                  <a:rPr lang="en-GB" sz="2000" dirty="0"/>
                  <a:t>To see the impact of stability on the profile, here we  found the following definition:</a:t>
                </a:r>
              </a:p>
              <a:p>
                <a:endParaRPr lang="en-GB" sz="2000" dirty="0"/>
              </a:p>
              <a:p>
                <a:endParaRPr lang="en-GB" sz="2000" dirty="0"/>
              </a:p>
              <a:p>
                <a:endParaRPr lang="en-GB" sz="2000" dirty="0"/>
              </a:p>
              <a:p>
                <a:endParaRPr lang="en-GB" sz="2000" dirty="0"/>
              </a:p>
              <a:p>
                <a:endParaRPr lang="en-GB" sz="2000" dirty="0"/>
              </a:p>
              <a:p>
                <a:endParaRPr lang="en-GB" sz="2000" dirty="0"/>
              </a:p>
              <a:p>
                <a:endParaRPr lang="en-GB" sz="2000" dirty="0"/>
              </a:p>
              <a:p>
                <a:r>
                  <a:rPr lang="en-GB" sz="2000" dirty="0"/>
                  <a:t>From </a:t>
                </a:r>
                <a:r>
                  <a:rPr lang="da-DK" sz="2000" i="1" dirty="0"/>
                  <a:t>Troen, I., &amp; Lundtang Petersen, E. (1989). European Wind Atlas. Risø National Laboratory</a:t>
                </a:r>
                <a:endParaRPr lang="en-GB" sz="2000" i="1" dirty="0"/>
              </a:p>
            </p:txBody>
          </p:sp>
        </mc:Choice>
        <mc:Fallback xmlns="">
          <p:sp>
            <p:nvSpPr>
              <p:cNvPr id="13" name="Tekstfelt 12">
                <a:extLst>
                  <a:ext uri="{FF2B5EF4-FFF2-40B4-BE49-F238E27FC236}">
                    <a16:creationId xmlns:a16="http://schemas.microsoft.com/office/drawing/2014/main" id="{B0706683-261F-83F5-312B-F5503D08B2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61" y="1103222"/>
                <a:ext cx="6138278" cy="5016758"/>
              </a:xfrm>
              <a:prstGeom prst="rect">
                <a:avLst/>
              </a:prstGeom>
              <a:blipFill>
                <a:blip r:embed="rId4"/>
                <a:stretch>
                  <a:fillRect l="-993" t="-729" b="-12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kstfelt 2">
                <a:extLst>
                  <a:ext uri="{FF2B5EF4-FFF2-40B4-BE49-F238E27FC236}">
                    <a16:creationId xmlns:a16="http://schemas.microsoft.com/office/drawing/2014/main" id="{F15B0F01-F32C-74A5-95AA-6398EE20EE0B}"/>
                  </a:ext>
                </a:extLst>
              </p:cNvPr>
              <p:cNvSpPr txBox="1"/>
              <p:nvPr/>
            </p:nvSpPr>
            <p:spPr>
              <a:xfrm>
                <a:off x="383456" y="1925077"/>
                <a:ext cx="5686130" cy="62235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solidFill>
                            <a:srgbClr val="3655A6"/>
                          </a:solidFill>
                          <a:latin typeface="Cambria Math" panose="02040503050406030204" pitchFamily="18" charset="0"/>
                        </a:rPr>
                        <m:t>𝑈</m:t>
                      </m:r>
                      <m:d>
                        <m:dPr>
                          <m:ctrlPr>
                            <a:rPr lang="da-DK" b="0" i="1" smtClean="0">
                              <a:solidFill>
                                <a:srgbClr val="3655A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b="0" i="1" smtClean="0">
                              <a:solidFill>
                                <a:srgbClr val="3655A6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da-DK" b="0" i="1" smtClean="0">
                          <a:solidFill>
                            <a:srgbClr val="3655A6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a-DK" b="0" i="1" smtClean="0">
                              <a:solidFill>
                                <a:srgbClr val="3655A6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da-DK" b="0" i="1" smtClean="0">
                                  <a:solidFill>
                                    <a:srgbClr val="3655A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b="0" i="1" smtClean="0">
                                  <a:solidFill>
                                    <a:srgbClr val="3655A6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p>
                              <m:r>
                                <a:rPr lang="da-DK" b="0" i="1" smtClean="0">
                                  <a:solidFill>
                                    <a:srgbClr val="3655A6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num>
                        <m:den>
                          <m:r>
                            <a:rPr lang="da-DK" b="0" i="1" smtClean="0">
                              <a:solidFill>
                                <a:srgbClr val="3655A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𝜅</m:t>
                          </m:r>
                        </m:den>
                      </m:f>
                      <m:r>
                        <a:rPr lang="da-DK" b="0" i="1" smtClean="0">
                          <a:solidFill>
                            <a:srgbClr val="3655A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m:rPr>
                          <m:sty m:val="p"/>
                        </m:rPr>
                        <a:rPr lang="da-DK" b="0" i="0" smtClean="0">
                          <a:solidFill>
                            <a:srgbClr val="3655A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ln</m:t>
                      </m:r>
                      <m:r>
                        <a:rPr lang="da-DK" b="0" i="1" smtClean="0">
                          <a:solidFill>
                            <a:srgbClr val="3655A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⁡</m:t>
                      </m:r>
                      <m:d>
                        <m:dPr>
                          <m:ctrlPr>
                            <a:rPr lang="da-DK" b="0" i="1" smtClean="0">
                              <a:solidFill>
                                <a:srgbClr val="3655A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da-DK" b="0" i="1" smtClean="0">
                                  <a:solidFill>
                                    <a:srgbClr val="3655A6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a-DK" b="0" i="1" smtClean="0">
                                  <a:solidFill>
                                    <a:srgbClr val="3655A6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da-DK" b="0" i="1" smtClean="0">
                                      <a:solidFill>
                                        <a:srgbClr val="3655A6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b="0" i="1" smtClean="0">
                                      <a:solidFill>
                                        <a:srgbClr val="3655A6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da-DK" b="0" i="1" smtClean="0">
                                      <a:solidFill>
                                        <a:srgbClr val="3655A6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  <m:r>
                            <a:rPr lang="da-DK" b="0" i="1" smtClean="0">
                              <a:solidFill>
                                <a:srgbClr val="3655A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da-DK" b="0" i="1" smtClean="0">
                              <a:solidFill>
                                <a:srgbClr val="3655A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𝜓</m:t>
                          </m:r>
                          <m:r>
                            <a:rPr lang="da-DK" b="0" i="1" smtClean="0">
                              <a:solidFill>
                                <a:srgbClr val="3655A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da-DK" b="0" i="1" smtClean="0">
                              <a:solidFill>
                                <a:srgbClr val="3655A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da-DK" b="0" i="1" smtClean="0">
                              <a:solidFill>
                                <a:srgbClr val="3655A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da-DK" b="0" i="1" smtClean="0">
                              <a:solidFill>
                                <a:srgbClr val="3655A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  <m:r>
                            <a:rPr lang="da-DK" b="0" i="1" smtClean="0">
                              <a:solidFill>
                                <a:srgbClr val="3655A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GB"/>
              </a:p>
            </p:txBody>
          </p:sp>
        </mc:Choice>
        <mc:Fallback xmlns="">
          <p:sp>
            <p:nvSpPr>
              <p:cNvPr id="3" name="Tekstfelt 2">
                <a:extLst>
                  <a:ext uri="{FF2B5EF4-FFF2-40B4-BE49-F238E27FC236}">
                    <a16:creationId xmlns:a16="http://schemas.microsoft.com/office/drawing/2014/main" id="{F15B0F01-F32C-74A5-95AA-6398EE20EE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456" y="1925077"/>
                <a:ext cx="5686130" cy="62235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kstfelt 9">
                <a:extLst>
                  <a:ext uri="{FF2B5EF4-FFF2-40B4-BE49-F238E27FC236}">
                    <a16:creationId xmlns:a16="http://schemas.microsoft.com/office/drawing/2014/main" id="{875E74B0-C34C-4615-DEE9-1DA1AB475263}"/>
                  </a:ext>
                </a:extLst>
              </p:cNvPr>
              <p:cNvSpPr txBox="1"/>
              <p:nvPr/>
            </p:nvSpPr>
            <p:spPr>
              <a:xfrm>
                <a:off x="1117929" y="3429000"/>
                <a:ext cx="4702769" cy="14817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a-DK" b="0" i="1" smtClean="0">
                          <a:solidFill>
                            <a:srgbClr val="3655A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𝜓</m:t>
                      </m:r>
                      <m:d>
                        <m:dPr>
                          <m:ctrlPr>
                            <a:rPr lang="da-DK" i="1" smtClean="0">
                              <a:solidFill>
                                <a:srgbClr val="3655A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b="0" i="1" smtClean="0">
                              <a:solidFill>
                                <a:srgbClr val="3655A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da-DK" b="0" i="1" smtClean="0">
                              <a:solidFill>
                                <a:srgbClr val="3655A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da-DK" b="0" i="1" smtClean="0">
                              <a:solidFill>
                                <a:srgbClr val="3655A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e>
                      </m:d>
                      <m:r>
                        <a:rPr lang="da-DK" b="0" i="0" smtClean="0">
                          <a:solidFill>
                            <a:srgbClr val="3655A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da-DK" i="1" smtClean="0">
                              <a:solidFill>
                                <a:srgbClr val="3655A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da-DK" i="1" smtClean="0">
                                  <a:solidFill>
                                    <a:srgbClr val="3655A6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da-DK" b="0" i="1" smtClean="0">
                                  <a:solidFill>
                                    <a:srgbClr val="3655A6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0,                                 </m:t>
                              </m:r>
                              <m:r>
                                <a:rPr lang="da-DK" b="0" i="1" smtClean="0">
                                  <a:solidFill>
                                    <a:srgbClr val="3655A6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𝑛𝑒𝑢𝑡𝑟𝑎𝑙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da-DK" i="1" smtClean="0">
                                      <a:solidFill>
                                        <a:srgbClr val="3655A6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da-DK" i="1" smtClean="0">
                                          <a:solidFill>
                                            <a:srgbClr val="3655A6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da-DK" b="0" i="1" smtClean="0">
                                          <a:solidFill>
                                            <a:srgbClr val="3655A6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1−16</m:t>
                                      </m:r>
                                      <m:f>
                                        <m:fPr>
                                          <m:ctrlPr>
                                            <a:rPr lang="da-DK" i="1" smtClean="0">
                                              <a:solidFill>
                                                <a:srgbClr val="3655A6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da-DK" b="0" i="1" smtClean="0">
                                              <a:solidFill>
                                                <a:srgbClr val="3655A6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num>
                                        <m:den>
                                          <m:r>
                                            <a:rPr lang="da-DK" b="0" i="1" smtClean="0">
                                              <a:solidFill>
                                                <a:srgbClr val="3655A6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𝐿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da-DK" b="0" i="1" smtClean="0">
                                      <a:solidFill>
                                        <a:srgbClr val="3655A6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1/4</m:t>
                                  </m:r>
                                </m:sup>
                              </m:sSup>
                              <m:r>
                                <a:rPr lang="da-DK" b="0" i="1" smtClean="0">
                                  <a:solidFill>
                                    <a:srgbClr val="3655A6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−1 ,  </m:t>
                              </m:r>
                              <m:r>
                                <a:rPr lang="da-DK" b="0" i="1" smtClean="0">
                                  <a:solidFill>
                                    <a:srgbClr val="3655A6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𝑢𝑛𝑠𝑡𝑎𝑏𝑙𝑒</m:t>
                              </m:r>
                            </m:e>
                            <m:e>
                              <m:r>
                                <a:rPr lang="da-DK" b="0" i="1" smtClean="0">
                                  <a:solidFill>
                                    <a:srgbClr val="3655A6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−4.7</m:t>
                              </m:r>
                              <m:f>
                                <m:fPr>
                                  <m:ctrlPr>
                                    <a:rPr lang="da-DK" i="1" smtClean="0">
                                      <a:solidFill>
                                        <a:srgbClr val="3655A6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a-DK" b="0" i="1" smtClean="0">
                                      <a:solidFill>
                                        <a:srgbClr val="3655A6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num>
                                <m:den>
                                  <m:r>
                                    <a:rPr lang="da-DK" b="0" i="1" smtClean="0">
                                      <a:solidFill>
                                        <a:srgbClr val="3655A6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r>
                                <a:rPr lang="da-DK" b="0" i="1" smtClean="0">
                                  <a:solidFill>
                                    <a:srgbClr val="3655A6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                 </m:t>
                              </m:r>
                              <m:r>
                                <a:rPr lang="da-DK" b="0" i="1" smtClean="0">
                                  <a:solidFill>
                                    <a:srgbClr val="3655A6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𝑠𝑡𝑎𝑏𝑙𝑒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GB"/>
              </a:p>
            </p:txBody>
          </p:sp>
        </mc:Choice>
        <mc:Fallback xmlns="">
          <p:sp>
            <p:nvSpPr>
              <p:cNvPr id="10" name="Tekstfelt 9">
                <a:extLst>
                  <a:ext uri="{FF2B5EF4-FFF2-40B4-BE49-F238E27FC236}">
                    <a16:creationId xmlns:a16="http://schemas.microsoft.com/office/drawing/2014/main" id="{875E74B0-C34C-4615-DEE9-1DA1AB4752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7929" y="3429000"/>
                <a:ext cx="4702769" cy="148175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2500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7299C5-EEA8-69C0-B334-68D6A9D48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kstfelt 12">
            <a:extLst>
              <a:ext uri="{FF2B5EF4-FFF2-40B4-BE49-F238E27FC236}">
                <a16:creationId xmlns:a16="http://schemas.microsoft.com/office/drawing/2014/main" id="{5516932F-C2AC-4273-BCA8-949290A14A51}"/>
              </a:ext>
            </a:extLst>
          </p:cNvPr>
          <p:cNvSpPr txBox="1"/>
          <p:nvPr/>
        </p:nvSpPr>
        <p:spPr>
          <a:xfrm>
            <a:off x="213359" y="1063894"/>
            <a:ext cx="10926589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000" err="1"/>
              <a:t>Following</a:t>
            </a:r>
            <a:r>
              <a:rPr lang="da-DK" sz="2000"/>
              <a:t> </a:t>
            </a:r>
            <a:r>
              <a:rPr lang="da-DK" sz="2000" err="1"/>
              <a:t>this</a:t>
            </a:r>
            <a:r>
              <a:rPr lang="da-DK" sz="2000"/>
              <a:t> </a:t>
            </a:r>
            <a:r>
              <a:rPr lang="da-DK" sz="2000" err="1"/>
              <a:t>we</a:t>
            </a:r>
            <a:r>
              <a:rPr lang="da-DK" sz="2000"/>
              <a:t> </a:t>
            </a:r>
            <a:r>
              <a:rPr lang="da-DK" sz="2000" err="1"/>
              <a:t>looked</a:t>
            </a:r>
            <a:r>
              <a:rPr lang="da-DK" sz="2000"/>
              <a:t> </a:t>
            </a:r>
            <a:r>
              <a:rPr lang="da-DK" sz="2000" err="1"/>
              <a:t>into</a:t>
            </a:r>
            <a:r>
              <a:rPr lang="da-DK" sz="2000"/>
              <a:t> the </a:t>
            </a:r>
            <a:r>
              <a:rPr lang="da-DK" sz="2000" err="1"/>
              <a:t>Monin-Obukhov</a:t>
            </a:r>
            <a:r>
              <a:rPr lang="da-DK" sz="2000"/>
              <a:t> </a:t>
            </a:r>
            <a:r>
              <a:rPr lang="da-DK" sz="2000" err="1"/>
              <a:t>length</a:t>
            </a:r>
            <a:r>
              <a:rPr lang="da-DK" sz="2000"/>
              <a:t> </a:t>
            </a:r>
            <a:r>
              <a:rPr lang="da-DK" sz="2000" i="1"/>
              <a:t>L </a:t>
            </a:r>
            <a:r>
              <a:rPr lang="da-DK" sz="2000"/>
              <a:t>in the </a:t>
            </a:r>
            <a:r>
              <a:rPr lang="da-DK" sz="2000" err="1"/>
              <a:t>stability</a:t>
            </a:r>
            <a:r>
              <a:rPr lang="da-DK" sz="2000"/>
              <a:t> term </a:t>
            </a:r>
            <a:r>
              <a:rPr lang="en-GB" sz="2000"/>
              <a:t>to see its impact. And we see how larger values of </a:t>
            </a:r>
            <a:r>
              <a:rPr lang="en-GB" sz="2000" i="1"/>
              <a:t>L</a:t>
            </a:r>
            <a:r>
              <a:rPr lang="en-GB" sz="2000"/>
              <a:t> both negative and positive approach the neutral profile.</a:t>
            </a:r>
          </a:p>
          <a:p>
            <a:endParaRPr lang="en-GB" sz="2000" i="1"/>
          </a:p>
          <a:p>
            <a:endParaRPr lang="en-GB" sz="2000" i="1"/>
          </a:p>
          <a:p>
            <a:endParaRPr lang="en-GB" sz="2000" i="1"/>
          </a:p>
          <a:p>
            <a:endParaRPr lang="en-GB" sz="2000" i="1"/>
          </a:p>
          <a:p>
            <a:endParaRPr lang="en-GB" sz="2000" i="1"/>
          </a:p>
          <a:p>
            <a:endParaRPr lang="en-GB" sz="2000" i="1"/>
          </a:p>
          <a:p>
            <a:endParaRPr lang="en-GB" sz="2000" i="1"/>
          </a:p>
          <a:p>
            <a:endParaRPr lang="en-GB" sz="2000" i="1"/>
          </a:p>
          <a:p>
            <a:endParaRPr lang="en-GB" sz="2000" i="1"/>
          </a:p>
          <a:p>
            <a:endParaRPr lang="en-GB" sz="2000" i="1"/>
          </a:p>
          <a:p>
            <a:endParaRPr lang="en-GB" sz="2000" i="1"/>
          </a:p>
          <a:p>
            <a:endParaRPr lang="en-GB" sz="2000" i="1"/>
          </a:p>
          <a:p>
            <a:endParaRPr lang="en-GB" sz="2000" i="1"/>
          </a:p>
          <a:p>
            <a:r>
              <a:rPr lang="en-GB" sz="2000"/>
              <a:t>We are still looking into estimating </a:t>
            </a:r>
            <a:r>
              <a:rPr lang="en-GB" sz="2000" i="1"/>
              <a:t>L</a:t>
            </a:r>
            <a:r>
              <a:rPr lang="en-GB" sz="2000"/>
              <a:t> and how this relates to lapse rate and the diurnal cycle</a:t>
            </a:r>
          </a:p>
          <a:p>
            <a:endParaRPr lang="en-GB" sz="2000"/>
          </a:p>
        </p:txBody>
      </p:sp>
      <p:pic>
        <p:nvPicPr>
          <p:cNvPr id="15" name="Billede 14">
            <a:extLst>
              <a:ext uri="{FF2B5EF4-FFF2-40B4-BE49-F238E27FC236}">
                <a16:creationId xmlns:a16="http://schemas.microsoft.com/office/drawing/2014/main" id="{B36BA1A3-6067-27CB-6C85-F1AE656E077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" t="5912" r="47744"/>
          <a:stretch>
            <a:fillRect/>
          </a:stretch>
        </p:blipFill>
        <p:spPr>
          <a:xfrm>
            <a:off x="1146082" y="1713519"/>
            <a:ext cx="4452078" cy="3991082"/>
          </a:xfrm>
          <a:prstGeom prst="rect">
            <a:avLst/>
          </a:prstGeom>
        </p:spPr>
      </p:pic>
      <p:pic>
        <p:nvPicPr>
          <p:cNvPr id="17" name="Billede 16">
            <a:extLst>
              <a:ext uri="{FF2B5EF4-FFF2-40B4-BE49-F238E27FC236}">
                <a16:creationId xmlns:a16="http://schemas.microsoft.com/office/drawing/2014/main" id="{18793154-4E3E-B499-C20C-4FDE9212E4B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793" r="47482"/>
          <a:stretch>
            <a:fillRect/>
          </a:stretch>
        </p:blipFill>
        <p:spPr>
          <a:xfrm>
            <a:off x="6264330" y="1751855"/>
            <a:ext cx="4452078" cy="3934074"/>
          </a:xfrm>
          <a:prstGeom prst="rect">
            <a:avLst/>
          </a:prstGeom>
        </p:spPr>
      </p:pic>
      <p:sp>
        <p:nvSpPr>
          <p:cNvPr id="12" name="Rektangel: afrundede hjørner 11">
            <a:extLst>
              <a:ext uri="{FF2B5EF4-FFF2-40B4-BE49-F238E27FC236}">
                <a16:creationId xmlns:a16="http://schemas.microsoft.com/office/drawing/2014/main" id="{BD266815-D043-203C-22BE-EB483C68C84B}"/>
              </a:ext>
            </a:extLst>
          </p:cNvPr>
          <p:cNvSpPr/>
          <p:nvPr/>
        </p:nvSpPr>
        <p:spPr>
          <a:xfrm>
            <a:off x="213360" y="361542"/>
            <a:ext cx="11765280" cy="581420"/>
          </a:xfrm>
          <a:prstGeom prst="round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5B00892-671D-B3CE-752D-C08CBCC4BE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3360" y="281412"/>
            <a:ext cx="11765280" cy="741680"/>
          </a:xfrm>
        </p:spPr>
        <p:txBody>
          <a:bodyPr>
            <a:normAutofit fontScale="90000"/>
          </a:bodyPr>
          <a:lstStyle/>
          <a:p>
            <a:pPr algn="l"/>
            <a:r>
              <a:rPr lang="en-US" sz="4800" b="1" noProof="0">
                <a:solidFill>
                  <a:schemeClr val="bg1"/>
                </a:solidFill>
              </a:rPr>
              <a:t>Stability (2/2)</a:t>
            </a: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DC7C9968-429C-ED82-8DD3-A609F0B62846}"/>
              </a:ext>
            </a:extLst>
          </p:cNvPr>
          <p:cNvSpPr/>
          <p:nvPr/>
        </p:nvSpPr>
        <p:spPr>
          <a:xfrm>
            <a:off x="0" y="6295234"/>
            <a:ext cx="12192000" cy="562708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Tekstfelt 7">
            <a:extLst>
              <a:ext uri="{FF2B5EF4-FFF2-40B4-BE49-F238E27FC236}">
                <a16:creationId xmlns:a16="http://schemas.microsoft.com/office/drawing/2014/main" id="{95082975-64A2-CADD-DC96-7828F03ED27B}"/>
              </a:ext>
            </a:extLst>
          </p:cNvPr>
          <p:cNvSpPr txBox="1"/>
          <p:nvPr/>
        </p:nvSpPr>
        <p:spPr>
          <a:xfrm>
            <a:off x="0" y="6334780"/>
            <a:ext cx="5598160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400" noProof="0">
                <a:solidFill>
                  <a:srgbClr val="D6E1E1"/>
                </a:solidFill>
              </a:rPr>
              <a:t>Bachelor project: </a:t>
            </a:r>
          </a:p>
          <a:p>
            <a:r>
              <a:rPr lang="en-US" sz="1400" b="1" noProof="0">
                <a:solidFill>
                  <a:srgbClr val="D6E1E1"/>
                </a:solidFill>
              </a:rPr>
              <a:t>CFD and ROM of Flow over a Golf Court</a:t>
            </a:r>
            <a:endParaRPr lang="en-US" sz="1400" noProof="0">
              <a:solidFill>
                <a:srgbClr val="D6E1E1"/>
              </a:solidFill>
            </a:endParaRPr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09C0AA15-C5AA-6384-9148-8ECB0E1B8E53}"/>
              </a:ext>
            </a:extLst>
          </p:cNvPr>
          <p:cNvSpPr/>
          <p:nvPr/>
        </p:nvSpPr>
        <p:spPr>
          <a:xfrm>
            <a:off x="0" y="0"/>
            <a:ext cx="12192000" cy="162560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Pladsholder til slidenummer 10">
            <a:extLst>
              <a:ext uri="{FF2B5EF4-FFF2-40B4-BE49-F238E27FC236}">
                <a16:creationId xmlns:a16="http://schemas.microsoft.com/office/drawing/2014/main" id="{6F65C222-70D5-AEC6-299E-703200835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7680" y="6413826"/>
            <a:ext cx="2743200" cy="365125"/>
          </a:xfrm>
        </p:spPr>
        <p:txBody>
          <a:bodyPr/>
          <a:lstStyle/>
          <a:p>
            <a:fld id="{4BF56B02-4AF6-4FAD-8624-917FD1E581F9}" type="slidenum">
              <a:rPr lang="en-US" sz="1600" b="1" noProof="0" smtClean="0">
                <a:solidFill>
                  <a:srgbClr val="D6E1E1"/>
                </a:solidFill>
              </a:rPr>
              <a:t>4</a:t>
            </a:fld>
            <a:endParaRPr lang="en-US" b="1" noProof="0">
              <a:solidFill>
                <a:srgbClr val="D6E1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2648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C73B75-5864-08A2-A0E2-BA9A9DE65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kstfelt 12">
                <a:extLst>
                  <a:ext uri="{FF2B5EF4-FFF2-40B4-BE49-F238E27FC236}">
                    <a16:creationId xmlns:a16="http://schemas.microsoft.com/office/drawing/2014/main" id="{BB785775-5C8C-66AC-614E-739D2D32006F}"/>
                  </a:ext>
                </a:extLst>
              </p:cNvPr>
              <p:cNvSpPr txBox="1"/>
              <p:nvPr/>
            </p:nvSpPr>
            <p:spPr>
              <a:xfrm>
                <a:off x="213360" y="1063894"/>
                <a:ext cx="6275930" cy="56163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2000"/>
                  <a:t>We </a:t>
                </a:r>
                <a:r>
                  <a:rPr lang="da-DK" sz="2000" err="1"/>
                  <a:t>then</a:t>
                </a:r>
                <a:r>
                  <a:rPr lang="da-DK" sz="2000"/>
                  <a:t> </a:t>
                </a:r>
                <a:r>
                  <a:rPr lang="da-DK" sz="2000" err="1"/>
                  <a:t>looked</a:t>
                </a:r>
                <a:r>
                  <a:rPr lang="da-DK" sz="2000"/>
                  <a:t> </a:t>
                </a:r>
                <a:r>
                  <a:rPr lang="da-DK" sz="2000" err="1"/>
                  <a:t>into</a:t>
                </a:r>
                <a:r>
                  <a:rPr lang="da-DK" sz="2000"/>
                  <a:t> the </a:t>
                </a:r>
                <a:r>
                  <a:rPr lang="da-DK" sz="2000" err="1"/>
                  <a:t>wind</a:t>
                </a:r>
                <a:r>
                  <a:rPr lang="da-DK" sz="2000"/>
                  <a:t> over a </a:t>
                </a:r>
                <a:r>
                  <a:rPr lang="da-DK" sz="2000" err="1"/>
                  <a:t>Gaussian</a:t>
                </a:r>
                <a:r>
                  <a:rPr lang="da-DK" sz="2000"/>
                  <a:t> </a:t>
                </a:r>
                <a:r>
                  <a:rPr lang="da-DK" sz="2000" err="1"/>
                  <a:t>hill</a:t>
                </a:r>
                <a:r>
                  <a:rPr lang="da-DK" sz="2000"/>
                  <a:t> in 2D</a:t>
                </a:r>
                <a:endParaRPr lang="en-GB" sz="2000"/>
              </a:p>
              <a:p>
                <a:r>
                  <a:rPr lang="en-GB" sz="2000"/>
                  <a:t>Height: </a:t>
                </a:r>
                <a14:m>
                  <m:oMath xmlns:m="http://schemas.openxmlformats.org/officeDocument/2006/math">
                    <m:r>
                      <a:rPr lang="da-DK" sz="2000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da-DK" sz="2000" b="0" i="1" smtClean="0">
                        <a:latin typeface="Cambria Math" panose="02040503050406030204" pitchFamily="18" charset="0"/>
                      </a:rPr>
                      <m:t>=25</m:t>
                    </m:r>
                    <m:r>
                      <a:rPr lang="da-DK" sz="20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GB" sz="2000"/>
              </a:p>
              <a:p>
                <a:r>
                  <a:rPr lang="en-GB" sz="2000"/>
                  <a:t>Std: </a:t>
                </a:r>
                <a14:m>
                  <m:oMath xmlns:m="http://schemas.openxmlformats.org/officeDocument/2006/math">
                    <m:r>
                      <a:rPr lang="en-GB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r>
                      <a:rPr lang="da-DK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=2∙</m:t>
                    </m:r>
                    <m:r>
                      <a:rPr lang="da-DK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  <m:r>
                      <a:rPr lang="da-DK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=50</m:t>
                    </m:r>
                    <m:r>
                      <a:rPr lang="da-DK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endParaRPr lang="en-GB" sz="200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da-DK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da-DK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da-DK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0.01</m:t>
                      </m:r>
                    </m:oMath>
                  </m:oMathPara>
                </a14:m>
                <a:endParaRPr lang="en-GB" sz="200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da-DK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da-DK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da-DK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a-DK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da-DK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p>
                              <m:r>
                                <a:rPr lang="da-DK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num>
                        <m:den>
                          <m:r>
                            <a:rPr lang="da-DK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𝜅</m:t>
                          </m:r>
                        </m:den>
                      </m:f>
                      <m:r>
                        <a:rPr lang="da-DK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m:rPr>
                          <m:sty m:val="p"/>
                        </m:rPr>
                        <a:rPr lang="da-DK" sz="20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ln</m:t>
                      </m:r>
                      <m:r>
                        <a:rPr lang="da-DK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⁡</m:t>
                      </m:r>
                      <m:d>
                        <m:dPr>
                          <m:ctrlPr>
                            <a:rPr lang="da-DK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da-DK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a-DK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da-DK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da-DK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en-GB" sz="2000"/>
              </a:p>
              <a:p>
                <a:endParaRPr lang="en-GB" sz="200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a-DK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</m:t>
                      </m:r>
                      <m:d>
                        <m:dPr>
                          <m:ctrlPr>
                            <a:rPr lang="da-DK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da-DK" sz="2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z</m:t>
                          </m:r>
                        </m:e>
                      </m:d>
                      <m:r>
                        <a:rPr lang="da-DK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da-DK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da-DK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a-DK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𝐻</m:t>
                              </m:r>
                              <m:r>
                                <a:rPr lang="da-DK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/2</m:t>
                              </m:r>
                            </m:num>
                            <m:den>
                              <m:r>
                                <a:rPr lang="da-DK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</m:den>
                          </m:f>
                        </m:e>
                      </m:d>
                      <m:r>
                        <a:rPr lang="da-DK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da-DK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da-DK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ln</m:t>
                          </m:r>
                          <m:r>
                            <a:rPr lang="da-DK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⁡</m:t>
                          </m:r>
                          <m:d>
                            <m:dPr>
                              <m:ctrlPr>
                                <a:rPr lang="da-DK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da-DK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a-DK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da-DK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a-DK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da-DK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lang="da-DK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ln</m:t>
                          </m:r>
                          <m:r>
                            <a:rPr lang="da-DK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⁡</m:t>
                          </m:r>
                          <m:d>
                            <m:dPr>
                              <m:ctrlPr>
                                <a:rPr lang="da-DK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da-DK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a-DK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da-DK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a-DK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da-DK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den>
                      </m:f>
                      <m:r>
                        <a:rPr lang="da-DK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da-DK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⁡</m:t>
                      </m:r>
                      <m:f>
                        <m:fPr>
                          <m:ctrlPr>
                            <a:rPr lang="da-DK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da-DK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da-DK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a-DK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1+</m:t>
                                  </m:r>
                                  <m:f>
                                    <m:fPr>
                                      <m:ctrlPr>
                                        <a:rPr lang="da-DK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da-DK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𝑧</m:t>
                                      </m:r>
                                    </m:num>
                                    <m:den>
                                      <m:r>
                                        <a:rPr lang="da-DK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𝐿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da-DK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GB" sz="2000"/>
              </a:p>
              <a:p>
                <a:endParaRPr lang="en-GB" sz="200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a-DK" sz="2000" b="0" i="1" smtClean="0">
                          <a:latin typeface="Cambria Math" panose="02040503050406030204" pitchFamily="18" charset="0"/>
                        </a:rPr>
                        <m:t>𝑈</m:t>
                      </m:r>
                      <m:d>
                        <m:dPr>
                          <m:ctrlPr>
                            <a:rPr lang="da-DK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sz="20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da-DK" sz="20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a-DK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20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da-DK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da-DK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sz="2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da-DK" sz="2000" b="0" i="1" smtClean="0">
                          <a:latin typeface="Cambria Math" panose="02040503050406030204" pitchFamily="18" charset="0"/>
                        </a:rPr>
                        <m:t>+(1+</m:t>
                      </m:r>
                      <m:r>
                        <a:rPr lang="da-DK" sz="2000" b="0" i="1" smtClean="0"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da-DK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sz="2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da-DK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2000"/>
              </a:p>
              <a:p>
                <a:endParaRPr lang="en-GB" sz="2000"/>
              </a:p>
              <a:p>
                <a:r>
                  <a:rPr lang="en-GB" sz="2000"/>
                  <a:t>From </a:t>
                </a:r>
                <a:r>
                  <a:rPr lang="da-DK" sz="2000" i="1"/>
                  <a:t>Troen, I., &amp; Lundtang Petersen, E. (1989). European Wind Atlas. Risø National Laboratory</a:t>
                </a:r>
                <a:endParaRPr lang="en-GB" sz="2000"/>
              </a:p>
              <a:p>
                <a:endParaRPr lang="en-GB" sz="2000"/>
              </a:p>
              <a:p>
                <a:endParaRPr lang="en-GB" sz="2000"/>
              </a:p>
            </p:txBody>
          </p:sp>
        </mc:Choice>
        <mc:Fallback xmlns="">
          <p:sp>
            <p:nvSpPr>
              <p:cNvPr id="13" name="Tekstfelt 12">
                <a:extLst>
                  <a:ext uri="{FF2B5EF4-FFF2-40B4-BE49-F238E27FC236}">
                    <a16:creationId xmlns:a16="http://schemas.microsoft.com/office/drawing/2014/main" id="{BB785775-5C8C-66AC-614E-739D2D3200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60" y="1063894"/>
                <a:ext cx="6275930" cy="5616346"/>
              </a:xfrm>
              <a:prstGeom prst="rect">
                <a:avLst/>
              </a:prstGeom>
              <a:blipFill>
                <a:blip r:embed="rId3"/>
                <a:stretch>
                  <a:fillRect l="-971" t="-6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ktangel: afrundede hjørner 11">
            <a:extLst>
              <a:ext uri="{FF2B5EF4-FFF2-40B4-BE49-F238E27FC236}">
                <a16:creationId xmlns:a16="http://schemas.microsoft.com/office/drawing/2014/main" id="{376ABF47-6D08-4BC2-94B4-8CDE19E61A4C}"/>
              </a:ext>
            </a:extLst>
          </p:cNvPr>
          <p:cNvSpPr/>
          <p:nvPr/>
        </p:nvSpPr>
        <p:spPr>
          <a:xfrm>
            <a:off x="213360" y="361542"/>
            <a:ext cx="11765280" cy="581420"/>
          </a:xfrm>
          <a:prstGeom prst="round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8691532-9DF3-3657-DD81-BEAE4E0AC6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3360" y="281412"/>
            <a:ext cx="11765280" cy="741680"/>
          </a:xfrm>
        </p:spPr>
        <p:txBody>
          <a:bodyPr>
            <a:normAutofit fontScale="90000"/>
          </a:bodyPr>
          <a:lstStyle/>
          <a:p>
            <a:pPr algn="l"/>
            <a:r>
              <a:rPr lang="en-US" sz="4800" b="1" noProof="0">
                <a:solidFill>
                  <a:schemeClr val="bg1"/>
                </a:solidFill>
              </a:rPr>
              <a:t>Wind over Gaussian hill in 2D</a:t>
            </a:r>
            <a:r>
              <a:rPr lang="en-US" sz="4800" b="1">
                <a:solidFill>
                  <a:schemeClr val="bg1"/>
                </a:solidFill>
              </a:rPr>
              <a:t> (1/2)</a:t>
            </a:r>
            <a:endParaRPr lang="en-US" sz="4800" b="1" i="1" noProof="0">
              <a:solidFill>
                <a:schemeClr val="bg1"/>
              </a:solidFill>
            </a:endParaRP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9BB879C5-6C5A-A400-972F-2FC496E8137E}"/>
              </a:ext>
            </a:extLst>
          </p:cNvPr>
          <p:cNvSpPr/>
          <p:nvPr/>
        </p:nvSpPr>
        <p:spPr>
          <a:xfrm>
            <a:off x="0" y="6295234"/>
            <a:ext cx="12192000" cy="562708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Tekstfelt 7">
            <a:extLst>
              <a:ext uri="{FF2B5EF4-FFF2-40B4-BE49-F238E27FC236}">
                <a16:creationId xmlns:a16="http://schemas.microsoft.com/office/drawing/2014/main" id="{069506F2-FCFE-94D9-8BA2-3AAAB71882FF}"/>
              </a:ext>
            </a:extLst>
          </p:cNvPr>
          <p:cNvSpPr txBox="1"/>
          <p:nvPr/>
        </p:nvSpPr>
        <p:spPr>
          <a:xfrm>
            <a:off x="0" y="6334780"/>
            <a:ext cx="5598160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400" noProof="0">
                <a:solidFill>
                  <a:srgbClr val="D6E1E1"/>
                </a:solidFill>
              </a:rPr>
              <a:t>Bachelor project: </a:t>
            </a:r>
          </a:p>
          <a:p>
            <a:r>
              <a:rPr lang="en-US" sz="1400" b="1" noProof="0">
                <a:solidFill>
                  <a:srgbClr val="D6E1E1"/>
                </a:solidFill>
              </a:rPr>
              <a:t>CFD and ROM of Flow over a Golf Court</a:t>
            </a:r>
            <a:endParaRPr lang="en-US" sz="1400" noProof="0">
              <a:solidFill>
                <a:srgbClr val="D6E1E1"/>
              </a:solidFill>
            </a:endParaRPr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882471CD-D9B4-FB9A-804D-4E84505FA850}"/>
              </a:ext>
            </a:extLst>
          </p:cNvPr>
          <p:cNvSpPr/>
          <p:nvPr/>
        </p:nvSpPr>
        <p:spPr>
          <a:xfrm>
            <a:off x="0" y="0"/>
            <a:ext cx="12192000" cy="162560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Pladsholder til slidenummer 10">
            <a:extLst>
              <a:ext uri="{FF2B5EF4-FFF2-40B4-BE49-F238E27FC236}">
                <a16:creationId xmlns:a16="http://schemas.microsoft.com/office/drawing/2014/main" id="{BDB8F7C8-4606-1734-B511-1FAF7B061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7680" y="6413826"/>
            <a:ext cx="2743200" cy="365125"/>
          </a:xfrm>
        </p:spPr>
        <p:txBody>
          <a:bodyPr/>
          <a:lstStyle/>
          <a:p>
            <a:fld id="{4BF56B02-4AF6-4FAD-8624-917FD1E581F9}" type="slidenum">
              <a:rPr lang="en-US" sz="1600" b="1" noProof="0" smtClean="0">
                <a:solidFill>
                  <a:srgbClr val="D6E1E1"/>
                </a:solidFill>
              </a:rPr>
              <a:t>5</a:t>
            </a:fld>
            <a:endParaRPr lang="en-US" b="1" noProof="0">
              <a:solidFill>
                <a:srgbClr val="D6E1E1"/>
              </a:solidFill>
            </a:endParaRPr>
          </a:p>
        </p:txBody>
      </p:sp>
      <p:pic>
        <p:nvPicPr>
          <p:cNvPr id="17" name="Billede 16">
            <a:extLst>
              <a:ext uri="{FF2B5EF4-FFF2-40B4-BE49-F238E27FC236}">
                <a16:creationId xmlns:a16="http://schemas.microsoft.com/office/drawing/2014/main" id="{EC2BCB88-84D3-0B5A-7F3D-71BBF6CED7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2651" y="982290"/>
            <a:ext cx="5275990" cy="5275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515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FC184A-9974-0F73-CAA9-B3AE00F9E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kstfelt 12">
                <a:extLst>
                  <a:ext uri="{FF2B5EF4-FFF2-40B4-BE49-F238E27FC236}">
                    <a16:creationId xmlns:a16="http://schemas.microsoft.com/office/drawing/2014/main" id="{E4BB4C32-543A-455B-980D-120DD419E9F1}"/>
                  </a:ext>
                </a:extLst>
              </p:cNvPr>
              <p:cNvSpPr txBox="1"/>
              <p:nvPr/>
            </p:nvSpPr>
            <p:spPr>
              <a:xfrm>
                <a:off x="213360" y="1063894"/>
                <a:ext cx="5302537" cy="54552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2000"/>
                  <a:t>After </a:t>
                </a:r>
                <a:r>
                  <a:rPr lang="da-DK" sz="2000" err="1"/>
                  <a:t>which</a:t>
                </a:r>
                <a:r>
                  <a:rPr lang="da-DK" sz="2000"/>
                  <a:t> </a:t>
                </a:r>
                <a:r>
                  <a:rPr lang="da-DK" sz="2000" err="1"/>
                  <a:t>we</a:t>
                </a:r>
                <a:r>
                  <a:rPr lang="da-DK" sz="2000"/>
                  <a:t> </a:t>
                </a:r>
                <a:r>
                  <a:rPr lang="da-DK" sz="2000" err="1"/>
                  <a:t>tried</a:t>
                </a:r>
                <a:r>
                  <a:rPr lang="da-DK" sz="2000"/>
                  <a:t> a </a:t>
                </a:r>
                <a:r>
                  <a:rPr lang="da-DK" sz="2000" err="1"/>
                  <a:t>different</a:t>
                </a:r>
                <a:r>
                  <a:rPr lang="da-DK" sz="2000"/>
                  <a:t> </a:t>
                </a:r>
                <a:r>
                  <a:rPr lang="da-DK" sz="2000" err="1"/>
                  <a:t>method</a:t>
                </a:r>
                <a:endParaRPr lang="en-GB" sz="2000"/>
              </a:p>
              <a:p>
                <a:r>
                  <a:rPr lang="en-GB" sz="1600"/>
                  <a:t>Height: </a:t>
                </a:r>
                <a14:m>
                  <m:oMath xmlns:m="http://schemas.openxmlformats.org/officeDocument/2006/math">
                    <m:r>
                      <a:rPr lang="da-DK" sz="1600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da-DK" sz="1600" b="0" i="1" smtClean="0">
                        <a:latin typeface="Cambria Math" panose="02040503050406030204" pitchFamily="18" charset="0"/>
                      </a:rPr>
                      <m:t>=25</m:t>
                    </m:r>
                    <m:r>
                      <a:rPr lang="da-DK" sz="16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GB" sz="1600"/>
              </a:p>
              <a:p>
                <a:r>
                  <a:rPr lang="en-GB" sz="1600"/>
                  <a:t>Std: </a:t>
                </a:r>
                <a14:m>
                  <m:oMath xmlns:m="http://schemas.openxmlformats.org/officeDocument/2006/math">
                    <m:r>
                      <a:rPr lang="en-GB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r>
                      <a:rPr lang="da-DK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=2∙</m:t>
                    </m:r>
                    <m:r>
                      <a:rPr lang="da-DK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  <m:r>
                      <a:rPr lang="da-DK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=50</m:t>
                    </m:r>
                    <m:r>
                      <a:rPr lang="da-DK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endParaRPr lang="en-GB" sz="160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da-DK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da-DK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=0.01</m:t>
                      </m:r>
                    </m:oMath>
                  </m:oMathPara>
                </a14:m>
                <a:endParaRPr lang="en-GB" sz="160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a-DK" sz="16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da-DK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sz="16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da-DK" sz="1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sz="1600" i="1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da-DK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unc>
                        <m:funcPr>
                          <m:ctrlPr>
                            <a:rPr lang="da-DK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da-DK" sz="16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da-DK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a-DK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da-DK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da-DK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da-DK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p>
                                      <m:r>
                                        <a:rPr lang="da-DK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da-DK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2∙</m:t>
                                  </m:r>
                                  <m:sSup>
                                    <m:sSupPr>
                                      <m:ctrlPr>
                                        <a:rPr lang="da-DK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da-DK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da-DK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da-DK" sz="1600" i="1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1600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da-DK" sz="16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da-DK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sz="16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da-DK" sz="16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a-DK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da-DK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sz="16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p>
                              <m:r>
                                <a:rPr lang="da-DK" sz="1600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num>
                        <m:den>
                          <m:r>
                            <a:rPr lang="da-DK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𝜅</m:t>
                          </m:r>
                        </m:den>
                      </m:f>
                      <m:r>
                        <a:rPr lang="da-DK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m:rPr>
                          <m:sty m:val="p"/>
                        </m:rPr>
                        <a:rPr lang="da-DK" sz="16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ln</m:t>
                      </m:r>
                      <m:r>
                        <a:rPr lang="da-DK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⁡</m:t>
                      </m:r>
                      <m:d>
                        <m:dPr>
                          <m:ctrlPr>
                            <a:rPr lang="da-DK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da-DK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a-DK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da-DK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da-DK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en-GB" sz="160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a-DK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𝑙</m:t>
                      </m:r>
                      <m:r>
                        <a:rPr lang="da-DK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a-DK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func>
                            <m:funcPr>
                              <m:ctrlPr>
                                <a:rPr lang="da-DK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da-DK" sz="16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da-DK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da-DK" sz="1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da-DK" sz="1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𝐿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da-DK" sz="16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da-DK" sz="16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e>
                                        <m:sub>
                                          <m:r>
                                            <a:rPr lang="da-DK" sz="16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</m:func>
                        </m:den>
                      </m:f>
                    </m:oMath>
                  </m:oMathPara>
                </a14:m>
                <a:endParaRPr lang="en-GB" sz="160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a-DK" sz="1600" b="0" i="1" smtClean="0"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da-DK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sz="16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da-DK" sz="1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⁡</m:t>
                      </m:r>
                      <m:f>
                        <m:fPr>
                          <m:ctrlPr>
                            <a:rPr lang="da-DK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da-DK" sz="1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a-DK" sz="16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da-DK" sz="16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da-DK" sz="16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da-DK" sz="16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da-DK" sz="16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den>
                          </m:f>
                          <m:sSup>
                            <m:sSupPr>
                              <m:ctrlPr>
                                <a:rPr lang="da-DK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func>
                                <m:funcPr>
                                  <m:ctrlPr>
                                    <a:rPr lang="da-DK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a:rPr lang="da-DK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∙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da-DK" sz="16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ln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da-DK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da-DK" sz="16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da-DK" sz="16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𝐿</m:t>
                                          </m:r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lang="da-DK" sz="16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da-DK" sz="16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𝑧</m:t>
                                              </m:r>
                                            </m:e>
                                            <m:sub>
                                              <m:r>
                                                <a:rPr lang="da-DK" sz="16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</m:e>
                            <m:sup>
                              <m:r>
                                <a:rPr lang="da-DK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func>
                            <m:funcPr>
                              <m:ctrlPr>
                                <a:rPr lang="da-DK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da-DK" sz="16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da-DK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da-DK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da-DK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𝑧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da-DK" sz="16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da-DK" sz="16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e>
                                        <m:sub>
                                          <m:r>
                                            <a:rPr lang="da-DK" sz="16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  <m:r>
                                <a:rPr lang="da-DK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</m:e>
                          </m:func>
                          <m:func>
                            <m:funcPr>
                              <m:ctrlPr>
                                <a:rPr lang="da-DK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da-DK" sz="16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da-DK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da-DK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da-DK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𝑙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da-DK" sz="16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da-DK" sz="16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e>
                                        <m:sub>
                                          <m:r>
                                            <a:rPr lang="da-DK" sz="16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</m:func>
                        </m:den>
                      </m:f>
                    </m:oMath>
                  </m:oMathPara>
                </a14:m>
                <a:endParaRPr lang="en-GB" sz="1600"/>
              </a:p>
              <a:p>
                <a:endParaRPr lang="en-GB" sz="160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a-DK" sz="1600" i="1">
                          <a:latin typeface="Cambria Math" panose="02040503050406030204" pitchFamily="18" charset="0"/>
                        </a:rPr>
                        <m:t>𝑈</m:t>
                      </m:r>
                      <m:d>
                        <m:dPr>
                          <m:ctrlPr>
                            <a:rPr lang="da-DK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sz="16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da-DK" sz="16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a-DK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1600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da-DK" sz="16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da-DK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sz="16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da-DK" sz="1600" i="1">
                          <a:latin typeface="Cambria Math" panose="02040503050406030204" pitchFamily="18" charset="0"/>
                        </a:rPr>
                        <m:t>+(1+</m:t>
                      </m:r>
                      <m:r>
                        <a:rPr lang="da-DK" sz="1600" i="1"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da-DK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sz="16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da-DK" sz="16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600"/>
              </a:p>
              <a:p>
                <a:endParaRPr lang="en-GB" sz="1600"/>
              </a:p>
              <a:p>
                <a:r>
                  <a:rPr lang="en-GB" sz="2000"/>
                  <a:t>From </a:t>
                </a:r>
                <a:r>
                  <a:rPr lang="en-US" sz="2000" i="1"/>
                  <a:t>Turbulent wind flow over a low hill, P. S. Jackson, J. C. R. Hunt, (1975)</a:t>
                </a:r>
                <a:endParaRPr lang="en-GB" sz="2000" i="1"/>
              </a:p>
            </p:txBody>
          </p:sp>
        </mc:Choice>
        <mc:Fallback xmlns="">
          <p:sp>
            <p:nvSpPr>
              <p:cNvPr id="13" name="Tekstfelt 12">
                <a:extLst>
                  <a:ext uri="{FF2B5EF4-FFF2-40B4-BE49-F238E27FC236}">
                    <a16:creationId xmlns:a16="http://schemas.microsoft.com/office/drawing/2014/main" id="{E4BB4C32-543A-455B-980D-120DD419E9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60" y="1063894"/>
                <a:ext cx="5302537" cy="5455211"/>
              </a:xfrm>
              <a:prstGeom prst="rect">
                <a:avLst/>
              </a:prstGeom>
              <a:blipFill>
                <a:blip r:embed="rId3"/>
                <a:stretch>
                  <a:fillRect l="-1149" t="-6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ktangel: afrundede hjørner 11">
            <a:extLst>
              <a:ext uri="{FF2B5EF4-FFF2-40B4-BE49-F238E27FC236}">
                <a16:creationId xmlns:a16="http://schemas.microsoft.com/office/drawing/2014/main" id="{DCD07C95-398B-2C45-B3D0-CCB1FFCE8EF4}"/>
              </a:ext>
            </a:extLst>
          </p:cNvPr>
          <p:cNvSpPr/>
          <p:nvPr/>
        </p:nvSpPr>
        <p:spPr>
          <a:xfrm>
            <a:off x="213360" y="361542"/>
            <a:ext cx="11765280" cy="581420"/>
          </a:xfrm>
          <a:prstGeom prst="round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6EE06E1-88ED-A75F-5312-049D316EFD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3360" y="281412"/>
            <a:ext cx="11765280" cy="741680"/>
          </a:xfrm>
        </p:spPr>
        <p:txBody>
          <a:bodyPr>
            <a:normAutofit fontScale="90000"/>
          </a:bodyPr>
          <a:lstStyle/>
          <a:p>
            <a:pPr algn="l"/>
            <a:r>
              <a:rPr lang="en-US" sz="4800" b="1" noProof="0">
                <a:solidFill>
                  <a:schemeClr val="bg1"/>
                </a:solidFill>
              </a:rPr>
              <a:t>Wind over Gaussian hill in </a:t>
            </a:r>
            <a:r>
              <a:rPr lang="en-US" sz="4800" b="1">
                <a:solidFill>
                  <a:schemeClr val="bg1"/>
                </a:solidFill>
              </a:rPr>
              <a:t>2D (2/2)</a:t>
            </a:r>
            <a:endParaRPr lang="en-US" sz="4800" b="1" i="1" noProof="0">
              <a:solidFill>
                <a:schemeClr val="bg1"/>
              </a:solidFill>
            </a:endParaRP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563BB84C-6BA7-7C44-9A0B-CFA0B7BAE54B}"/>
              </a:ext>
            </a:extLst>
          </p:cNvPr>
          <p:cNvSpPr/>
          <p:nvPr/>
        </p:nvSpPr>
        <p:spPr>
          <a:xfrm>
            <a:off x="0" y="6295234"/>
            <a:ext cx="12192000" cy="562708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Tekstfelt 7">
            <a:extLst>
              <a:ext uri="{FF2B5EF4-FFF2-40B4-BE49-F238E27FC236}">
                <a16:creationId xmlns:a16="http://schemas.microsoft.com/office/drawing/2014/main" id="{B0FCFD0F-E3C3-FF02-FFDD-F02482A5BCC7}"/>
              </a:ext>
            </a:extLst>
          </p:cNvPr>
          <p:cNvSpPr txBox="1"/>
          <p:nvPr/>
        </p:nvSpPr>
        <p:spPr>
          <a:xfrm>
            <a:off x="0" y="6334780"/>
            <a:ext cx="5598160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400" noProof="0">
                <a:solidFill>
                  <a:srgbClr val="D6E1E1"/>
                </a:solidFill>
              </a:rPr>
              <a:t>Bachelor project: </a:t>
            </a:r>
          </a:p>
          <a:p>
            <a:r>
              <a:rPr lang="en-US" sz="1400" b="1" noProof="0">
                <a:solidFill>
                  <a:srgbClr val="D6E1E1"/>
                </a:solidFill>
              </a:rPr>
              <a:t>CFD and ROM of Flow over a Golf Court</a:t>
            </a:r>
            <a:endParaRPr lang="en-US" sz="1400" noProof="0">
              <a:solidFill>
                <a:srgbClr val="D6E1E1"/>
              </a:solidFill>
            </a:endParaRPr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DE90ECB1-A61F-73DF-0CE4-7DD8257FCBCA}"/>
              </a:ext>
            </a:extLst>
          </p:cNvPr>
          <p:cNvSpPr/>
          <p:nvPr/>
        </p:nvSpPr>
        <p:spPr>
          <a:xfrm>
            <a:off x="0" y="0"/>
            <a:ext cx="12192000" cy="162560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Pladsholder til slidenummer 10">
            <a:extLst>
              <a:ext uri="{FF2B5EF4-FFF2-40B4-BE49-F238E27FC236}">
                <a16:creationId xmlns:a16="http://schemas.microsoft.com/office/drawing/2014/main" id="{25483734-CC44-39D2-CF0C-8209ACA1D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7680" y="6413826"/>
            <a:ext cx="2743200" cy="365125"/>
          </a:xfrm>
        </p:spPr>
        <p:txBody>
          <a:bodyPr/>
          <a:lstStyle/>
          <a:p>
            <a:fld id="{4BF56B02-4AF6-4FAD-8624-917FD1E581F9}" type="slidenum">
              <a:rPr lang="en-US" sz="1600" b="1" noProof="0" smtClean="0">
                <a:solidFill>
                  <a:srgbClr val="D6E1E1"/>
                </a:solidFill>
              </a:rPr>
              <a:t>6</a:t>
            </a:fld>
            <a:endParaRPr lang="en-US" b="1" noProof="0">
              <a:solidFill>
                <a:srgbClr val="D6E1E1"/>
              </a:solidFill>
            </a:endParaRPr>
          </a:p>
        </p:txBody>
      </p:sp>
      <p:pic>
        <p:nvPicPr>
          <p:cNvPr id="19" name="Billede 18">
            <a:extLst>
              <a:ext uri="{FF2B5EF4-FFF2-40B4-BE49-F238E27FC236}">
                <a16:creationId xmlns:a16="http://schemas.microsoft.com/office/drawing/2014/main" id="{8E318D5A-614A-B983-1951-3F4BD4F0F5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5495" y="1051115"/>
            <a:ext cx="6773145" cy="5052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8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197A18-DCAA-CEE8-C6EA-617486AA1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ktangel: afrundede hjørner 11">
            <a:extLst>
              <a:ext uri="{FF2B5EF4-FFF2-40B4-BE49-F238E27FC236}">
                <a16:creationId xmlns:a16="http://schemas.microsoft.com/office/drawing/2014/main" id="{E281BDBE-1BEE-29FD-FAC2-BFD26A24D39F}"/>
              </a:ext>
            </a:extLst>
          </p:cNvPr>
          <p:cNvSpPr/>
          <p:nvPr/>
        </p:nvSpPr>
        <p:spPr>
          <a:xfrm>
            <a:off x="213360" y="361542"/>
            <a:ext cx="11765280" cy="581420"/>
          </a:xfrm>
          <a:prstGeom prst="round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6C73D8F-5025-A285-FF0F-C32A92C3D4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3360" y="281412"/>
            <a:ext cx="11765280" cy="741680"/>
          </a:xfrm>
        </p:spPr>
        <p:txBody>
          <a:bodyPr>
            <a:normAutofit fontScale="90000"/>
          </a:bodyPr>
          <a:lstStyle/>
          <a:p>
            <a:pPr algn="l"/>
            <a:r>
              <a:rPr lang="en-US" sz="4800" b="1">
                <a:solidFill>
                  <a:schemeClr val="bg1"/>
                </a:solidFill>
              </a:rPr>
              <a:t>RANS simulation over Gaussian hill</a:t>
            </a: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4B65B947-999D-4A1B-595D-9EE41F0BA859}"/>
              </a:ext>
            </a:extLst>
          </p:cNvPr>
          <p:cNvSpPr/>
          <p:nvPr/>
        </p:nvSpPr>
        <p:spPr>
          <a:xfrm>
            <a:off x="0" y="6295234"/>
            <a:ext cx="12192000" cy="562708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Tekstfelt 7">
            <a:extLst>
              <a:ext uri="{FF2B5EF4-FFF2-40B4-BE49-F238E27FC236}">
                <a16:creationId xmlns:a16="http://schemas.microsoft.com/office/drawing/2014/main" id="{E0348549-B60B-990A-779E-396423A34955}"/>
              </a:ext>
            </a:extLst>
          </p:cNvPr>
          <p:cNvSpPr txBox="1"/>
          <p:nvPr/>
        </p:nvSpPr>
        <p:spPr>
          <a:xfrm>
            <a:off x="0" y="6334780"/>
            <a:ext cx="5598160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400" noProof="0">
                <a:solidFill>
                  <a:srgbClr val="D6E1E1"/>
                </a:solidFill>
              </a:rPr>
              <a:t>Bachelor project: </a:t>
            </a:r>
          </a:p>
          <a:p>
            <a:r>
              <a:rPr lang="en-US" sz="1400" b="1" noProof="0">
                <a:solidFill>
                  <a:srgbClr val="D6E1E1"/>
                </a:solidFill>
              </a:rPr>
              <a:t>CFD and ROM of Flow over a Golf Court</a:t>
            </a:r>
            <a:endParaRPr lang="en-US" sz="1400" noProof="0">
              <a:solidFill>
                <a:srgbClr val="D6E1E1"/>
              </a:solidFill>
            </a:endParaRPr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EEFA6BD6-6F95-D520-762A-06464215A304}"/>
              </a:ext>
            </a:extLst>
          </p:cNvPr>
          <p:cNvSpPr/>
          <p:nvPr/>
        </p:nvSpPr>
        <p:spPr>
          <a:xfrm>
            <a:off x="0" y="0"/>
            <a:ext cx="12192000" cy="162560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Pladsholder til slidenummer 10">
            <a:extLst>
              <a:ext uri="{FF2B5EF4-FFF2-40B4-BE49-F238E27FC236}">
                <a16:creationId xmlns:a16="http://schemas.microsoft.com/office/drawing/2014/main" id="{DD9455B0-E162-E0A6-CD40-43060F657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7680" y="6413826"/>
            <a:ext cx="2743200" cy="365125"/>
          </a:xfrm>
        </p:spPr>
        <p:txBody>
          <a:bodyPr/>
          <a:lstStyle/>
          <a:p>
            <a:fld id="{4BF56B02-4AF6-4FAD-8624-917FD1E581F9}" type="slidenum">
              <a:rPr lang="en-US" sz="1600" b="1" noProof="0" smtClean="0">
                <a:solidFill>
                  <a:srgbClr val="D6E1E1"/>
                </a:solidFill>
              </a:rPr>
              <a:t>7</a:t>
            </a:fld>
            <a:endParaRPr lang="en-US" b="1" noProof="0">
              <a:solidFill>
                <a:srgbClr val="D6E1E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A754B2-A79F-48F3-79F9-9BF4E2DF9CF3}"/>
              </a:ext>
            </a:extLst>
          </p:cNvPr>
          <p:cNvSpPr txBox="1"/>
          <p:nvPr/>
        </p:nvSpPr>
        <p:spPr>
          <a:xfrm>
            <a:off x="248574" y="1219200"/>
            <a:ext cx="5606247" cy="40626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Looking around on data.dt.dk, we found a RANS simulation from:</a:t>
            </a:r>
          </a:p>
          <a:p>
            <a:r>
              <a:rPr lang="en-US" i="1" dirty="0"/>
              <a:t>Flow field over a Gaussian hill by RANS simulation,</a:t>
            </a:r>
          </a:p>
          <a:p>
            <a:r>
              <a:rPr lang="en-US" i="1" dirty="0"/>
              <a:t>Ju Feng &amp; Wen Zhong Shen (2018)</a:t>
            </a:r>
          </a:p>
          <a:p>
            <a:endParaRPr lang="en-US" sz="2000" b="1" dirty="0"/>
          </a:p>
          <a:p>
            <a:r>
              <a:rPr lang="en-US" b="1" dirty="0"/>
              <a:t>Streamwise velocity</a:t>
            </a:r>
          </a:p>
          <a:p>
            <a:r>
              <a:rPr lang="en-US" dirty="0"/>
              <a:t>From this data set we then extracted a slice and visualized (in python) the velocity over the hill.</a:t>
            </a:r>
          </a:p>
          <a:p>
            <a:endParaRPr lang="en-US" sz="2000" dirty="0"/>
          </a:p>
          <a:p>
            <a:r>
              <a:rPr lang="en-US" b="1" dirty="0"/>
              <a:t>Turbulence Intensity</a:t>
            </a:r>
            <a:endParaRPr lang="en-GB" dirty="0"/>
          </a:p>
          <a:p>
            <a:r>
              <a:rPr lang="en-GB" dirty="0"/>
              <a:t>We then tried to make a turbulence intensity plot from the data</a:t>
            </a:r>
          </a:p>
          <a:p>
            <a:endParaRPr lang="en-GB" sz="2000" dirty="0"/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1563A95-08F8-AD0D-F1AD-CE924499A0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826" y="1074499"/>
            <a:ext cx="5411635" cy="243344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689CB8F-7DFB-1E29-6DFB-F83AD10305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9798" y="3694526"/>
            <a:ext cx="5445691" cy="239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163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EEA254-36E2-F6C3-10D2-8B7ED8EF9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ktangel: afrundede hjørner 11">
            <a:extLst>
              <a:ext uri="{FF2B5EF4-FFF2-40B4-BE49-F238E27FC236}">
                <a16:creationId xmlns:a16="http://schemas.microsoft.com/office/drawing/2014/main" id="{4E42E52F-03F7-EF4E-C84C-1E145D4AEA69}"/>
              </a:ext>
            </a:extLst>
          </p:cNvPr>
          <p:cNvSpPr/>
          <p:nvPr/>
        </p:nvSpPr>
        <p:spPr>
          <a:xfrm>
            <a:off x="213360" y="361542"/>
            <a:ext cx="11765280" cy="581420"/>
          </a:xfrm>
          <a:prstGeom prst="round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3CE0264-D26C-A9BE-530B-B506B89979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3360" y="281412"/>
            <a:ext cx="11765280" cy="741680"/>
          </a:xfrm>
        </p:spPr>
        <p:txBody>
          <a:bodyPr>
            <a:normAutofit fontScale="90000"/>
          </a:bodyPr>
          <a:lstStyle/>
          <a:p>
            <a:pPr algn="l"/>
            <a:r>
              <a:rPr lang="en-US" sz="4800" b="1" dirty="0">
                <a:solidFill>
                  <a:schemeClr val="bg1"/>
                </a:solidFill>
              </a:rPr>
              <a:t>Structure update (1/2)</a:t>
            </a: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826C2E63-5C1D-E69B-79F1-F8DFD841711E}"/>
              </a:ext>
            </a:extLst>
          </p:cNvPr>
          <p:cNvSpPr/>
          <p:nvPr/>
        </p:nvSpPr>
        <p:spPr>
          <a:xfrm>
            <a:off x="0" y="6295234"/>
            <a:ext cx="12192000" cy="562708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Tekstfelt 7">
            <a:extLst>
              <a:ext uri="{FF2B5EF4-FFF2-40B4-BE49-F238E27FC236}">
                <a16:creationId xmlns:a16="http://schemas.microsoft.com/office/drawing/2014/main" id="{DD2D33E3-B8B2-9E8C-BDDE-390979F2FD81}"/>
              </a:ext>
            </a:extLst>
          </p:cNvPr>
          <p:cNvSpPr txBox="1"/>
          <p:nvPr/>
        </p:nvSpPr>
        <p:spPr>
          <a:xfrm>
            <a:off x="0" y="6334780"/>
            <a:ext cx="5598160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400" noProof="0">
                <a:solidFill>
                  <a:srgbClr val="D6E1E1"/>
                </a:solidFill>
              </a:rPr>
              <a:t>Bachelor project: </a:t>
            </a:r>
          </a:p>
          <a:p>
            <a:r>
              <a:rPr lang="en-US" sz="1400" b="1" noProof="0">
                <a:solidFill>
                  <a:srgbClr val="D6E1E1"/>
                </a:solidFill>
              </a:rPr>
              <a:t>CFD and ROM of Flow over a Golf Court</a:t>
            </a:r>
            <a:endParaRPr lang="en-US" sz="1400" noProof="0">
              <a:solidFill>
                <a:srgbClr val="D6E1E1"/>
              </a:solidFill>
            </a:endParaRPr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DB3CDFBA-49D0-E2A6-FEF1-645B19686210}"/>
              </a:ext>
            </a:extLst>
          </p:cNvPr>
          <p:cNvSpPr/>
          <p:nvPr/>
        </p:nvSpPr>
        <p:spPr>
          <a:xfrm>
            <a:off x="0" y="0"/>
            <a:ext cx="12192000" cy="162560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Pladsholder til slidenummer 10">
            <a:extLst>
              <a:ext uri="{FF2B5EF4-FFF2-40B4-BE49-F238E27FC236}">
                <a16:creationId xmlns:a16="http://schemas.microsoft.com/office/drawing/2014/main" id="{323D23E1-C083-DC49-C2C1-D5CEA841D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7680" y="6413826"/>
            <a:ext cx="2743200" cy="365125"/>
          </a:xfrm>
        </p:spPr>
        <p:txBody>
          <a:bodyPr/>
          <a:lstStyle/>
          <a:p>
            <a:fld id="{4BF56B02-4AF6-4FAD-8624-917FD1E581F9}" type="slidenum">
              <a:rPr lang="en-US" sz="1600" b="1" noProof="0" smtClean="0">
                <a:solidFill>
                  <a:srgbClr val="D6E1E1"/>
                </a:solidFill>
              </a:rPr>
              <a:t>8</a:t>
            </a:fld>
            <a:endParaRPr lang="en-US" b="1" noProof="0">
              <a:solidFill>
                <a:srgbClr val="D6E1E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FB0A88-978A-B5AD-F2CB-F3485349DCF7}"/>
              </a:ext>
            </a:extLst>
          </p:cNvPr>
          <p:cNvSpPr txBox="1"/>
          <p:nvPr/>
        </p:nvSpPr>
        <p:spPr>
          <a:xfrm>
            <a:off x="248574" y="1219200"/>
            <a:ext cx="5975245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Following our last meeting, we have updated the general structure for the project, as can be seen here on the right:</a:t>
            </a:r>
          </a:p>
          <a:p>
            <a:endParaRPr lang="en-US" dirty="0"/>
          </a:p>
          <a:p>
            <a:r>
              <a:rPr lang="en-US" dirty="0"/>
              <a:t>We have also distributed the initial task of who deals with setting up RANS and who deals with the trajectory model:</a:t>
            </a:r>
          </a:p>
          <a:p>
            <a:br>
              <a:rPr lang="en-US" dirty="0"/>
            </a:br>
            <a:r>
              <a:rPr lang="en-US" dirty="0"/>
              <a:t>RANS: Jacob, Alfred</a:t>
            </a:r>
          </a:p>
          <a:p>
            <a:r>
              <a:rPr lang="en-US" dirty="0"/>
              <a:t>Trajectory model: Eske</a:t>
            </a:r>
          </a:p>
          <a:p>
            <a:endParaRPr lang="en-US" dirty="0"/>
          </a:p>
          <a:p>
            <a:r>
              <a:rPr lang="en-US" dirty="0"/>
              <a:t>Note: </a:t>
            </a:r>
            <a:r>
              <a:rPr lang="en-US" dirty="0">
                <a:solidFill>
                  <a:srgbClr val="FF0000"/>
                </a:solidFill>
              </a:rPr>
              <a:t>Red</a:t>
            </a:r>
            <a:r>
              <a:rPr lang="en-US" dirty="0"/>
              <a:t> components in the project structure are either undetermined in placement or because we don’t know if they are in-scope yet.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14" name="Billede 13">
            <a:extLst>
              <a:ext uri="{FF2B5EF4-FFF2-40B4-BE49-F238E27FC236}">
                <a16:creationId xmlns:a16="http://schemas.microsoft.com/office/drawing/2014/main" id="{D2443A7D-327E-F6B6-2BCE-D0E2A59B3B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3880" y="1061554"/>
            <a:ext cx="4908661" cy="5073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842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39B8B8-82A3-29FF-2DF7-D230A2AB2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ktangel: afrundede hjørner 11">
            <a:extLst>
              <a:ext uri="{FF2B5EF4-FFF2-40B4-BE49-F238E27FC236}">
                <a16:creationId xmlns:a16="http://schemas.microsoft.com/office/drawing/2014/main" id="{C96B5F0A-2310-038A-9F38-77D86C04F908}"/>
              </a:ext>
            </a:extLst>
          </p:cNvPr>
          <p:cNvSpPr/>
          <p:nvPr/>
        </p:nvSpPr>
        <p:spPr>
          <a:xfrm>
            <a:off x="213360" y="361542"/>
            <a:ext cx="11765280" cy="581420"/>
          </a:xfrm>
          <a:prstGeom prst="round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F064FA2-2AE3-39C5-4DB9-00B877C7D0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3360" y="281412"/>
            <a:ext cx="11765280" cy="741680"/>
          </a:xfrm>
        </p:spPr>
        <p:txBody>
          <a:bodyPr>
            <a:normAutofit fontScale="90000"/>
          </a:bodyPr>
          <a:lstStyle/>
          <a:p>
            <a:pPr algn="l"/>
            <a:r>
              <a:rPr lang="en-US" sz="4800" b="1" dirty="0">
                <a:solidFill>
                  <a:schemeClr val="bg1"/>
                </a:solidFill>
              </a:rPr>
              <a:t>Structure update (2/2)</a:t>
            </a: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8BFDEA8A-EB4A-F01F-603A-5B5294FC2C93}"/>
              </a:ext>
            </a:extLst>
          </p:cNvPr>
          <p:cNvSpPr/>
          <p:nvPr/>
        </p:nvSpPr>
        <p:spPr>
          <a:xfrm>
            <a:off x="0" y="6295234"/>
            <a:ext cx="12192000" cy="562708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Tekstfelt 7">
            <a:extLst>
              <a:ext uri="{FF2B5EF4-FFF2-40B4-BE49-F238E27FC236}">
                <a16:creationId xmlns:a16="http://schemas.microsoft.com/office/drawing/2014/main" id="{A18BA284-8BB6-E366-C297-A04EE0E20215}"/>
              </a:ext>
            </a:extLst>
          </p:cNvPr>
          <p:cNvSpPr txBox="1"/>
          <p:nvPr/>
        </p:nvSpPr>
        <p:spPr>
          <a:xfrm>
            <a:off x="0" y="6334780"/>
            <a:ext cx="5598160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400" noProof="0">
                <a:solidFill>
                  <a:srgbClr val="D6E1E1"/>
                </a:solidFill>
              </a:rPr>
              <a:t>Bachelor project: </a:t>
            </a:r>
          </a:p>
          <a:p>
            <a:r>
              <a:rPr lang="en-US" sz="1400" b="1" noProof="0">
                <a:solidFill>
                  <a:srgbClr val="D6E1E1"/>
                </a:solidFill>
              </a:rPr>
              <a:t>CFD and ROM of Flow over a Golf Court</a:t>
            </a:r>
            <a:endParaRPr lang="en-US" sz="1400" noProof="0">
              <a:solidFill>
                <a:srgbClr val="D6E1E1"/>
              </a:solidFill>
            </a:endParaRPr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28F47A8B-FE7D-89CB-AA1E-463894F9B30B}"/>
              </a:ext>
            </a:extLst>
          </p:cNvPr>
          <p:cNvSpPr/>
          <p:nvPr/>
        </p:nvSpPr>
        <p:spPr>
          <a:xfrm>
            <a:off x="0" y="0"/>
            <a:ext cx="12192000" cy="162560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Pladsholder til slidenummer 10">
            <a:extLst>
              <a:ext uri="{FF2B5EF4-FFF2-40B4-BE49-F238E27FC236}">
                <a16:creationId xmlns:a16="http://schemas.microsoft.com/office/drawing/2014/main" id="{A083D169-2BF3-73C0-F29C-C85ED1F47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7680" y="6413826"/>
            <a:ext cx="2743200" cy="365125"/>
          </a:xfrm>
        </p:spPr>
        <p:txBody>
          <a:bodyPr/>
          <a:lstStyle/>
          <a:p>
            <a:fld id="{4BF56B02-4AF6-4FAD-8624-917FD1E581F9}" type="slidenum">
              <a:rPr lang="en-US" sz="1600" b="1" noProof="0" smtClean="0">
                <a:solidFill>
                  <a:srgbClr val="D6E1E1"/>
                </a:solidFill>
              </a:rPr>
              <a:t>9</a:t>
            </a:fld>
            <a:endParaRPr lang="en-US" b="1" noProof="0">
              <a:solidFill>
                <a:srgbClr val="D6E1E1"/>
              </a:solidFill>
            </a:endParaRPr>
          </a:p>
        </p:txBody>
      </p:sp>
      <p:pic>
        <p:nvPicPr>
          <p:cNvPr id="4" name="Billede 3">
            <a:extLst>
              <a:ext uri="{FF2B5EF4-FFF2-40B4-BE49-F238E27FC236}">
                <a16:creationId xmlns:a16="http://schemas.microsoft.com/office/drawing/2014/main" id="{C8201EFE-BCF2-A199-56FA-ADEC2BDCB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59" y="2153266"/>
            <a:ext cx="11765281" cy="3677264"/>
          </a:xfrm>
          <a:prstGeom prst="rect">
            <a:avLst/>
          </a:prstGeom>
        </p:spPr>
      </p:pic>
      <p:sp>
        <p:nvSpPr>
          <p:cNvPr id="7" name="TextBox 5">
            <a:extLst>
              <a:ext uri="{FF2B5EF4-FFF2-40B4-BE49-F238E27FC236}">
                <a16:creationId xmlns:a16="http://schemas.microsoft.com/office/drawing/2014/main" id="{041F1A1A-DB19-D030-BA53-EEFD1CD4EE2B}"/>
              </a:ext>
            </a:extLst>
          </p:cNvPr>
          <p:cNvSpPr txBox="1"/>
          <p:nvPr/>
        </p:nvSpPr>
        <p:spPr>
          <a:xfrm>
            <a:off x="248574" y="1219200"/>
            <a:ext cx="11730066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And as a natural continuation on the structure update, we also updated the GANTT-diagram to reflect the new direction and this two-pronged approach with RANS and trajectory model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1891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CD62BE-1985-9C92-8428-46CB89567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ktangel: afrundede hjørner 11">
            <a:extLst>
              <a:ext uri="{FF2B5EF4-FFF2-40B4-BE49-F238E27FC236}">
                <a16:creationId xmlns:a16="http://schemas.microsoft.com/office/drawing/2014/main" id="{44E3398B-5DE6-6D5A-C88C-90AAADB19960}"/>
              </a:ext>
            </a:extLst>
          </p:cNvPr>
          <p:cNvSpPr/>
          <p:nvPr/>
        </p:nvSpPr>
        <p:spPr>
          <a:xfrm>
            <a:off x="213360" y="361542"/>
            <a:ext cx="11765280" cy="581420"/>
          </a:xfrm>
          <a:prstGeom prst="round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CA23724-4114-51E6-689D-A1B498FCF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3360" y="281412"/>
            <a:ext cx="11765280" cy="741680"/>
          </a:xfrm>
        </p:spPr>
        <p:txBody>
          <a:bodyPr>
            <a:normAutofit fontScale="90000"/>
          </a:bodyPr>
          <a:lstStyle/>
          <a:p>
            <a:pPr algn="l"/>
            <a:r>
              <a:rPr lang="en-US" sz="4800" b="1" dirty="0">
                <a:solidFill>
                  <a:schemeClr val="bg1"/>
                </a:solidFill>
              </a:rPr>
              <a:t>NDA</a:t>
            </a: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DB710F60-D336-0DAA-AF57-D33BA70AF5C0}"/>
              </a:ext>
            </a:extLst>
          </p:cNvPr>
          <p:cNvSpPr/>
          <p:nvPr/>
        </p:nvSpPr>
        <p:spPr>
          <a:xfrm>
            <a:off x="0" y="6295234"/>
            <a:ext cx="12192000" cy="562708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Tekstfelt 7">
            <a:extLst>
              <a:ext uri="{FF2B5EF4-FFF2-40B4-BE49-F238E27FC236}">
                <a16:creationId xmlns:a16="http://schemas.microsoft.com/office/drawing/2014/main" id="{7A762D30-8FEF-12F6-F219-CAC5787BCF8E}"/>
              </a:ext>
            </a:extLst>
          </p:cNvPr>
          <p:cNvSpPr txBox="1"/>
          <p:nvPr/>
        </p:nvSpPr>
        <p:spPr>
          <a:xfrm>
            <a:off x="0" y="6334780"/>
            <a:ext cx="5598160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400" noProof="0">
                <a:solidFill>
                  <a:srgbClr val="D6E1E1"/>
                </a:solidFill>
              </a:rPr>
              <a:t>Bachelor project: </a:t>
            </a:r>
          </a:p>
          <a:p>
            <a:r>
              <a:rPr lang="en-US" sz="1400" b="1" noProof="0">
                <a:solidFill>
                  <a:srgbClr val="D6E1E1"/>
                </a:solidFill>
              </a:rPr>
              <a:t>CFD and ROM of Flow over a Golf Court</a:t>
            </a:r>
            <a:endParaRPr lang="en-US" sz="1400" noProof="0">
              <a:solidFill>
                <a:srgbClr val="D6E1E1"/>
              </a:solidFill>
            </a:endParaRPr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160F2A93-452F-4567-D85E-A2252BCAE0EB}"/>
              </a:ext>
            </a:extLst>
          </p:cNvPr>
          <p:cNvSpPr/>
          <p:nvPr/>
        </p:nvSpPr>
        <p:spPr>
          <a:xfrm>
            <a:off x="0" y="0"/>
            <a:ext cx="12192000" cy="162560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Pladsholder til slidenummer 10">
            <a:extLst>
              <a:ext uri="{FF2B5EF4-FFF2-40B4-BE49-F238E27FC236}">
                <a16:creationId xmlns:a16="http://schemas.microsoft.com/office/drawing/2014/main" id="{7366CF00-0466-DA8B-B46D-5A653A2DE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7680" y="6413826"/>
            <a:ext cx="2743200" cy="365125"/>
          </a:xfrm>
        </p:spPr>
        <p:txBody>
          <a:bodyPr/>
          <a:lstStyle/>
          <a:p>
            <a:fld id="{4BF56B02-4AF6-4FAD-8624-917FD1E581F9}" type="slidenum">
              <a:rPr lang="en-US" sz="1600" b="1" noProof="0" smtClean="0">
                <a:solidFill>
                  <a:srgbClr val="D6E1E1"/>
                </a:solidFill>
              </a:rPr>
              <a:t>10</a:t>
            </a:fld>
            <a:endParaRPr lang="en-US" b="1" noProof="0">
              <a:solidFill>
                <a:srgbClr val="D6E1E1"/>
              </a:solidFill>
            </a:endParaRPr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7C46B8B2-7727-C21A-EF5D-3DFD80BF5F9A}"/>
              </a:ext>
            </a:extLst>
          </p:cNvPr>
          <p:cNvSpPr txBox="1"/>
          <p:nvPr/>
        </p:nvSpPr>
        <p:spPr>
          <a:xfrm>
            <a:off x="248574" y="1219200"/>
            <a:ext cx="11730066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We have in our group talked it through and have agreed to sign the NDA, this will of course be done as soon (Hopefully before the meeting on 7/4) as possible and sent over to Trackman</a:t>
            </a:r>
          </a:p>
          <a:p>
            <a:endParaRPr lang="en-US" dirty="0"/>
          </a:p>
          <a:p>
            <a:r>
              <a:rPr lang="en-US" dirty="0"/>
              <a:t>Information we need to properly sign;</a:t>
            </a:r>
          </a:p>
          <a:p>
            <a:endParaRPr lang="en-US" dirty="0"/>
          </a:p>
          <a:p>
            <a:r>
              <a:rPr lang="en-US" b="1" dirty="0"/>
              <a:t>Exact project title</a:t>
            </a:r>
          </a:p>
          <a:p>
            <a:r>
              <a:rPr lang="en-US" dirty="0"/>
              <a:t>The working title for the project is: </a:t>
            </a:r>
            <a:r>
              <a:rPr lang="en-US" i="1" dirty="0"/>
              <a:t>CFD and ROM of Flow over a Golf Court</a:t>
            </a:r>
            <a:r>
              <a:rPr lang="en-US" dirty="0"/>
              <a:t>, but this title does not necessarily reflect the current direction of the project, so this needs to be updated.</a:t>
            </a:r>
          </a:p>
          <a:p>
            <a:endParaRPr lang="en-US" dirty="0"/>
          </a:p>
          <a:p>
            <a:r>
              <a:rPr lang="en-US" b="1" dirty="0"/>
              <a:t>Exact collaboration period</a:t>
            </a:r>
          </a:p>
          <a:p>
            <a:r>
              <a:rPr lang="en-US" dirty="0"/>
              <a:t>The exact period of the project should be 16.03.2026 – 08.07.2026, twelve weeks total from the start date.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7791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E80758-598C-5AC1-673D-F57FD6454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ktangel: afrundede hjørner 11">
            <a:extLst>
              <a:ext uri="{FF2B5EF4-FFF2-40B4-BE49-F238E27FC236}">
                <a16:creationId xmlns:a16="http://schemas.microsoft.com/office/drawing/2014/main" id="{ECAE4132-6655-5B01-9D35-30A69C05BC93}"/>
              </a:ext>
            </a:extLst>
          </p:cNvPr>
          <p:cNvSpPr/>
          <p:nvPr/>
        </p:nvSpPr>
        <p:spPr>
          <a:xfrm>
            <a:off x="213360" y="361542"/>
            <a:ext cx="11765280" cy="581420"/>
          </a:xfrm>
          <a:prstGeom prst="round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8A87E6A-CD75-E223-C9E4-002439CD88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3360" y="281412"/>
            <a:ext cx="11765280" cy="741680"/>
          </a:xfrm>
        </p:spPr>
        <p:txBody>
          <a:bodyPr>
            <a:normAutofit fontScale="90000"/>
          </a:bodyPr>
          <a:lstStyle/>
          <a:p>
            <a:pPr algn="l"/>
            <a:r>
              <a:rPr lang="en-US" sz="4800" b="1" dirty="0">
                <a:solidFill>
                  <a:schemeClr val="bg1"/>
                </a:solidFill>
              </a:rPr>
              <a:t>G-bar/HPC update</a:t>
            </a: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A0D29A8C-6F8A-D0AF-AD51-DCE2827D0CFC}"/>
              </a:ext>
            </a:extLst>
          </p:cNvPr>
          <p:cNvSpPr/>
          <p:nvPr/>
        </p:nvSpPr>
        <p:spPr>
          <a:xfrm>
            <a:off x="0" y="6295234"/>
            <a:ext cx="12192000" cy="562708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Tekstfelt 7">
            <a:extLst>
              <a:ext uri="{FF2B5EF4-FFF2-40B4-BE49-F238E27FC236}">
                <a16:creationId xmlns:a16="http://schemas.microsoft.com/office/drawing/2014/main" id="{2DB4C0E0-0536-5F9A-9F0D-2556030FF43B}"/>
              </a:ext>
            </a:extLst>
          </p:cNvPr>
          <p:cNvSpPr txBox="1"/>
          <p:nvPr/>
        </p:nvSpPr>
        <p:spPr>
          <a:xfrm>
            <a:off x="0" y="6334780"/>
            <a:ext cx="5598160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400" noProof="0">
                <a:solidFill>
                  <a:srgbClr val="D6E1E1"/>
                </a:solidFill>
              </a:rPr>
              <a:t>Bachelor project: </a:t>
            </a:r>
          </a:p>
          <a:p>
            <a:r>
              <a:rPr lang="en-US" sz="1400" b="1" noProof="0">
                <a:solidFill>
                  <a:srgbClr val="D6E1E1"/>
                </a:solidFill>
              </a:rPr>
              <a:t>CFD and ROM of Flow over a Golf Court</a:t>
            </a:r>
            <a:endParaRPr lang="en-US" sz="1400" noProof="0">
              <a:solidFill>
                <a:srgbClr val="D6E1E1"/>
              </a:solidFill>
            </a:endParaRPr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63C72E96-7423-6039-71F0-79549549C9CB}"/>
              </a:ext>
            </a:extLst>
          </p:cNvPr>
          <p:cNvSpPr/>
          <p:nvPr/>
        </p:nvSpPr>
        <p:spPr>
          <a:xfrm>
            <a:off x="0" y="0"/>
            <a:ext cx="12192000" cy="162560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Pladsholder til slidenummer 10">
            <a:extLst>
              <a:ext uri="{FF2B5EF4-FFF2-40B4-BE49-F238E27FC236}">
                <a16:creationId xmlns:a16="http://schemas.microsoft.com/office/drawing/2014/main" id="{52388660-7E99-9FBA-470F-0679956A9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7680" y="6413826"/>
            <a:ext cx="2743200" cy="365125"/>
          </a:xfrm>
        </p:spPr>
        <p:txBody>
          <a:bodyPr/>
          <a:lstStyle/>
          <a:p>
            <a:fld id="{4BF56B02-4AF6-4FAD-8624-917FD1E581F9}" type="slidenum">
              <a:rPr lang="en-US" sz="1600" b="1" noProof="0" smtClean="0">
                <a:solidFill>
                  <a:srgbClr val="D6E1E1"/>
                </a:solidFill>
              </a:rPr>
              <a:t>11</a:t>
            </a:fld>
            <a:endParaRPr lang="en-US" b="1" noProof="0">
              <a:solidFill>
                <a:srgbClr val="D6E1E1"/>
              </a:solidFill>
            </a:endParaRPr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BCC40E36-8080-0116-A3F2-71A7C80FC1D6}"/>
              </a:ext>
            </a:extLst>
          </p:cNvPr>
          <p:cNvSpPr txBox="1"/>
          <p:nvPr/>
        </p:nvSpPr>
        <p:spPr>
          <a:xfrm>
            <a:off x="248574" y="1219200"/>
            <a:ext cx="6560126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We have followed the guide found on </a:t>
            </a:r>
            <a:r>
              <a:rPr lang="en-US" dirty="0" err="1"/>
              <a:t>PyWakeEllipSys</a:t>
            </a:r>
            <a:r>
              <a:rPr lang="en-US" dirty="0"/>
              <a:t> and we can now log on to </a:t>
            </a:r>
            <a:r>
              <a:rPr lang="en-US" dirty="0" err="1"/>
              <a:t>gbar</a:t>
            </a:r>
            <a:r>
              <a:rPr lang="en-US" dirty="0"/>
              <a:t>, where we can upload and queue a simple job, which just initializes some packages and sends an email once its done. This currently works without issues.</a:t>
            </a:r>
          </a:p>
          <a:p>
            <a:endParaRPr lang="en-US" dirty="0"/>
          </a:p>
          <a:p>
            <a:r>
              <a:rPr lang="en-US" dirty="0"/>
              <a:t>For next steps, we need to learn best practices setting up a larger simulation, before we commit to send a larger task, as to not mess something up for ourselves or other users. 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Billede 3">
            <a:extLst>
              <a:ext uri="{FF2B5EF4-FFF2-40B4-BE49-F238E27FC236}">
                <a16:creationId xmlns:a16="http://schemas.microsoft.com/office/drawing/2014/main" id="{5F8C1BDD-A16D-1F80-3BEB-7B6213A02C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1849" y="1623090"/>
            <a:ext cx="4406188" cy="1887018"/>
          </a:xfrm>
          <a:prstGeom prst="rect">
            <a:avLst/>
          </a:prstGeom>
        </p:spPr>
      </p:pic>
      <p:pic>
        <p:nvPicPr>
          <p:cNvPr id="16" name="Billede 15">
            <a:extLst>
              <a:ext uri="{FF2B5EF4-FFF2-40B4-BE49-F238E27FC236}">
                <a16:creationId xmlns:a16="http://schemas.microsoft.com/office/drawing/2014/main" id="{8BF753D1-6F59-9BD9-BA11-56BD7D7837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6287" y="3919873"/>
            <a:ext cx="2396777" cy="2272269"/>
          </a:xfrm>
          <a:prstGeom prst="rect">
            <a:avLst/>
          </a:prstGeom>
        </p:spPr>
      </p:pic>
      <p:pic>
        <p:nvPicPr>
          <p:cNvPr id="18" name="Billede 17">
            <a:extLst>
              <a:ext uri="{FF2B5EF4-FFF2-40B4-BE49-F238E27FC236}">
                <a16:creationId xmlns:a16="http://schemas.microsoft.com/office/drawing/2014/main" id="{C13A8F4D-B980-ECAA-E193-7AA7020D29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4703" y="4164374"/>
            <a:ext cx="5699214" cy="2027768"/>
          </a:xfrm>
          <a:prstGeom prst="rect">
            <a:avLst/>
          </a:prstGeom>
        </p:spPr>
      </p:pic>
      <p:sp>
        <p:nvSpPr>
          <p:cNvPr id="19" name="Rektangel 18">
            <a:extLst>
              <a:ext uri="{FF2B5EF4-FFF2-40B4-BE49-F238E27FC236}">
                <a16:creationId xmlns:a16="http://schemas.microsoft.com/office/drawing/2014/main" id="{E2C9D532-1D23-570F-B200-50EB91DB6AB9}"/>
              </a:ext>
            </a:extLst>
          </p:cNvPr>
          <p:cNvSpPr/>
          <p:nvPr/>
        </p:nvSpPr>
        <p:spPr>
          <a:xfrm>
            <a:off x="3618274" y="3805084"/>
            <a:ext cx="8374790" cy="2410020"/>
          </a:xfrm>
          <a:prstGeom prst="rect">
            <a:avLst/>
          </a:prstGeom>
          <a:noFill/>
          <a:ln w="38100">
            <a:solidFill>
              <a:srgbClr val="94A9DC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ktangel 19">
            <a:extLst>
              <a:ext uri="{FF2B5EF4-FFF2-40B4-BE49-F238E27FC236}">
                <a16:creationId xmlns:a16="http://schemas.microsoft.com/office/drawing/2014/main" id="{F7248A75-1696-46C9-0332-D9B387C32AED}"/>
              </a:ext>
            </a:extLst>
          </p:cNvPr>
          <p:cNvSpPr/>
          <p:nvPr/>
        </p:nvSpPr>
        <p:spPr>
          <a:xfrm>
            <a:off x="7403694" y="1483237"/>
            <a:ext cx="4589369" cy="2168017"/>
          </a:xfrm>
          <a:prstGeom prst="rect">
            <a:avLst/>
          </a:prstGeom>
          <a:noFill/>
          <a:ln w="38100">
            <a:solidFill>
              <a:srgbClr val="94A9DC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ekstfelt 20">
            <a:extLst>
              <a:ext uri="{FF2B5EF4-FFF2-40B4-BE49-F238E27FC236}">
                <a16:creationId xmlns:a16="http://schemas.microsoft.com/office/drawing/2014/main" id="{8CA1D6F5-9A8F-0139-DAB9-9F99A6D435B3}"/>
              </a:ext>
            </a:extLst>
          </p:cNvPr>
          <p:cNvSpPr txBox="1"/>
          <p:nvPr/>
        </p:nvSpPr>
        <p:spPr>
          <a:xfrm>
            <a:off x="350429" y="4234373"/>
            <a:ext cx="32938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94A9DC"/>
                </a:solidFill>
              </a:rPr>
              <a:t>Snippet from email telling us that the job was successful </a:t>
            </a:r>
          </a:p>
          <a:p>
            <a:r>
              <a:rPr lang="en-GB" dirty="0">
                <a:solidFill>
                  <a:srgbClr val="94A9DC"/>
                </a:solidFill>
              </a:rPr>
              <a:t>and specifying output location as /logs/</a:t>
            </a:r>
          </a:p>
        </p:txBody>
      </p:sp>
      <p:sp>
        <p:nvSpPr>
          <p:cNvPr id="23" name="Tekstfelt 22">
            <a:extLst>
              <a:ext uri="{FF2B5EF4-FFF2-40B4-BE49-F238E27FC236}">
                <a16:creationId xmlns:a16="http://schemas.microsoft.com/office/drawing/2014/main" id="{36E5A81E-4E2A-14E8-A7FF-C61B31921B44}"/>
              </a:ext>
            </a:extLst>
          </p:cNvPr>
          <p:cNvSpPr txBox="1"/>
          <p:nvPr/>
        </p:nvSpPr>
        <p:spPr>
          <a:xfrm>
            <a:off x="6865065" y="1023092"/>
            <a:ext cx="53171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94A9DC"/>
                </a:solidFill>
              </a:rPr>
              <a:t>Welcome message for the G-bar/HPC in </a:t>
            </a:r>
            <a:r>
              <a:rPr lang="en-GB" dirty="0" err="1">
                <a:solidFill>
                  <a:srgbClr val="94A9DC"/>
                </a:solidFill>
              </a:rPr>
              <a:t>Powershell</a:t>
            </a:r>
            <a:endParaRPr lang="en-GB" dirty="0">
              <a:solidFill>
                <a:srgbClr val="94A9D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8052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C12847B99347FF4083334DC9135B7BA4" ma:contentTypeVersion="3" ma:contentTypeDescription="Opret et nyt dokument." ma:contentTypeScope="" ma:versionID="1a786b5c107794d200a9d3bcaa41f2c4">
  <xsd:schema xmlns:xsd="http://www.w3.org/2001/XMLSchema" xmlns:xs="http://www.w3.org/2001/XMLSchema" xmlns:p="http://schemas.microsoft.com/office/2006/metadata/properties" xmlns:ns2="e96c79e5-61d3-4198-a281-6c3eb0006017" targetNamespace="http://schemas.microsoft.com/office/2006/metadata/properties" ma:root="true" ma:fieldsID="196022ccb88252a9af80d479eff89362" ns2:_="">
    <xsd:import namespace="e96c79e5-61d3-4198-a281-6c3eb000601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6c79e5-61d3-4198-a281-6c3eb000601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dhol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30616D5-3EEA-47E7-9E4B-D08F23AF604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C00B931-8A2D-411D-96B4-9DDF2F5F4796}">
  <ds:schemaRefs>
    <ds:schemaRef ds:uri="e96c79e5-61d3-4198-a281-6c3eb000601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D1F8528A-EB0F-494F-AC92-C8DAF21C688A}">
  <ds:schemaRefs>
    <ds:schemaRef ds:uri="e96c79e5-61d3-4198-a281-6c3eb000601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46050 Group 3 - P2</Template>
  <TotalTime>47</TotalTime>
  <Words>1039</Words>
  <Application>Microsoft Office PowerPoint</Application>
  <PresentationFormat>Widescreen</PresentationFormat>
  <Paragraphs>159</Paragraphs>
  <Slides>11</Slides>
  <Notes>11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4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Cambria Math</vt:lpstr>
      <vt:lpstr>Office-tema</vt:lpstr>
      <vt:lpstr> Working title:  CFD and ROM of Flow  over a Golf Court</vt:lpstr>
      <vt:lpstr>Table of contents</vt:lpstr>
      <vt:lpstr>Stability (1/2)</vt:lpstr>
      <vt:lpstr>Stability (2/2)</vt:lpstr>
      <vt:lpstr>Wind over Gaussian hill in 2D (1/2)</vt:lpstr>
      <vt:lpstr>Wind over Gaussian hill in 2D (2/2)</vt:lpstr>
      <vt:lpstr>RANS simulation over Gaussian hill</vt:lpstr>
      <vt:lpstr>Structure update (1/2)</vt:lpstr>
      <vt:lpstr>Structure update (2/2)</vt:lpstr>
      <vt:lpstr>NDA</vt:lpstr>
      <vt:lpstr>G-bar/HPC update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Jens Alfred Pedersen</dc:creator>
  <cp:lastModifiedBy>Jens Alfred Pedersen</cp:lastModifiedBy>
  <cp:revision>2</cp:revision>
  <dcterms:created xsi:type="dcterms:W3CDTF">2026-03-11T06:29:48Z</dcterms:created>
  <dcterms:modified xsi:type="dcterms:W3CDTF">2026-03-31T10:23:39Z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0x010100C12847B99347FF4083334DC9135B7BA4</vt:lpwstr>
  </property>
</Properties>
</file>