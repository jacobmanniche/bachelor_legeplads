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93" r:id="rId5"/>
    <p:sldId id="314" r:id="rId6"/>
    <p:sldId id="317" r:id="rId7"/>
    <p:sldId id="321" r:id="rId8"/>
    <p:sldId id="326" r:id="rId9"/>
    <p:sldId id="327" r:id="rId10"/>
    <p:sldId id="328" r:id="rId11"/>
    <p:sldId id="324" r:id="rId12"/>
    <p:sldId id="323" r:id="rId13"/>
    <p:sldId id="325" r:id="rId14"/>
    <p:sldId id="329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A9DC"/>
    <a:srgbClr val="3B5EB7"/>
    <a:srgbClr val="EEF2F2"/>
    <a:srgbClr val="3655A6"/>
    <a:srgbClr val="2C4688"/>
    <a:srgbClr val="326063"/>
    <a:srgbClr val="68A68E"/>
    <a:srgbClr val="ABCCC0"/>
    <a:srgbClr val="4D836E"/>
    <a:srgbClr val="D0E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65F0D-D53C-DDC0-B070-3C93A56DC6F6}" v="267" dt="2026-04-14T11:35:53.558"/>
    <p1510:client id="{0DDB168B-2661-E407-B5D7-5814274750A9}" v="6" dt="2026-04-14T13:18:06.051"/>
    <p1510:client id="{1842F3BA-D50F-4BBE-E20A-9041C9F2B323}" v="83" dt="2026-04-14T14:10:13.591"/>
    <p1510:client id="{27C1EE01-3DDD-CC8D-0550-BA2410BF87B3}" v="48" dt="2026-04-14T13:21:54.867"/>
    <p1510:client id="{2ED311B5-61EB-F3A3-E613-DA659CDB8B71}" v="235" dt="2026-04-14T13:34:24.694"/>
    <p1510:client id="{2F1C8C8A-253F-DD50-7232-816ECC07A2C7}" v="257" dt="2026-04-14T13:42:14.659"/>
    <p1510:client id="{854459A4-3554-14B4-941F-411DC56CE3D2}" v="5642" dt="2026-04-14T13:13:21.357"/>
    <p1510:client id="{C73F2448-A634-408B-BF7B-E03B0B31A228}" v="642" dt="2026-04-14T13:38:42.7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EFAC2-CAA8-4C26-A102-B05A6542AA2E}" type="datetimeFigureOut">
              <a:rPr lang="da-DK" smtClean="0"/>
              <a:t>22-04-2026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CF9C7-D1BA-425F-9524-4BF3E367B98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585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A5986-3CF3-A4DC-4F82-52D343929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A493507-F7A7-19D1-FEAC-30EDB9E6E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83B46A6-E0C6-8C16-0B2C-DE08F92C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D4E4BD-91D9-F554-438F-8C09AAFA7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8283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B0A5-B4F7-8CEE-AF32-2A93A9E58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F18AE8E-719E-9A6E-7D02-0C0E5B92E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4998C9A-1252-BE56-4D6E-4169AEF5E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293F104-9025-563C-9D71-373B8ACE2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2433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E102-1A30-31FA-CE9B-FA01C8D1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4DD33A0-4AA8-189C-1DDE-0891414BE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30CF9C4-41ED-982A-26AE-83D32C18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B74FBDF-8EAC-F21A-6EC0-C727D3764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3426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0A878-4EF0-D9D2-0F0D-72890147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93A995BD-B5FE-C29A-6945-2A51A9ABE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72A8F5AB-8C5A-ED81-D1D2-5B4958BB0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8ED3D17-C040-14AF-68B2-0CAE0831A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2054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98956-39C7-05D9-1DE4-C8E40C278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04B0B4C-003C-1AB8-182C-BFE940668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D2871DB-A89E-8157-38FE-344EBF992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FCE0BA2-2CAC-6535-C84C-A4EA136A7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7420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F0E13-6F80-0412-4C91-92B2A3EB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EAB62403-BC0C-DED7-1B3C-B7718E77F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6783D9AB-FC67-2C34-8137-22EEDAC10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B70E8DC-9592-4224-BA84-5413A2850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6219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C1A9F-8D45-E1CA-7744-2BBF2CB98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4A34DF41-E7BD-345B-2E3F-695B68EC0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2A33B63-AEE4-074E-2278-6FBF0FDAB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29F4891-4705-5A99-EB8D-A1CB49A25F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99269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6C47E-B458-C2E2-9E2E-3B02424F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C746869-27A2-0165-C33E-29AD32ABD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5949BFB-0B9B-F978-8E2E-B92754112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AA54C5F-32FD-9FAF-F88D-815452ADC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3442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1EA5E-502C-98F9-EAC0-A7CC123FA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1A74AD7-679E-03CD-7AB5-71230408C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06D9607-2414-4941-E035-B6F9F3112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BBD6A17-9B44-3D88-F551-F0A2E7A62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21166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AAB0-C1EA-38E0-658B-FC1297E7C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869C601E-6CAE-98FC-4045-95E38F350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CE71403-1A41-75F9-1A71-839AE4919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08DF4A8-59E4-B2DD-C0D7-34D901F1D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1510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870E7-3FFF-6041-C664-BDCDA869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0EF2DFBF-A025-4CD2-943C-A34172AED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1AEFF78F-DD61-51FC-6138-711E4D9D9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F9B13E7-8977-5761-47B2-0C6A6B39F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CF9C7-D1BA-425F-9524-4BF3E367B98B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85603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FEBFF-7A55-6A26-1B55-31D89164B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495899B-CD02-6AA9-DF41-724DD5A7A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4199BCB-1B71-C947-B591-D646D7BA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332E6-F494-4368-97C1-514ABDFF7489}" type="datetime1">
              <a:rPr lang="da-DK" smtClean="0"/>
              <a:t>22-04-2026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41D043E-8A77-47F9-4693-23D3217A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697C2FE-321E-E181-5853-B2A4DD84D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2135078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1D0CDC-CECC-54E1-DA3E-104DC915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38B14A5-8C46-C634-1813-51EA4B8DD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1E2CC94-0AF7-2B58-CE1C-E40146EE7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B7D05-3B1B-476A-93CE-8E1927AA511B}" type="datetime1">
              <a:rPr lang="da-DK" smtClean="0"/>
              <a:t>22-04-2026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8F41E05-CFC5-DB17-012C-CF773427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8972367-2D8B-CDC4-E6F6-395580F7B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263020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352474-76BA-4C4D-D9AB-814801F45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7DA833F-30BC-7E38-F5B5-BCA729D4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D86313-E12F-7CE9-BBCB-6520EDF5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61A2-E5BC-4A90-8F05-1A960DB8C22A}" type="datetime1">
              <a:rPr lang="da-DK" smtClean="0"/>
              <a:t>22-04-2026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EA54902-4605-5ED6-75EC-ED4DB2E0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2B4A159-C3C0-51E1-32B7-EEA5A291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5002080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8863B-CBA4-4F52-0D4A-297B80B58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D8BAEC8-EE09-53B6-D595-50E1A768B4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2C9B15A-AF2F-5A1B-F32E-4E81ADEF3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BE642F-0498-3FE2-8376-7D38EDCA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023AE-8A67-41E3-AD31-4F52660CDCC3}" type="datetime1">
              <a:rPr lang="da-DK" smtClean="0"/>
              <a:t>22-04-2026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CE9EB19-2077-883B-DB2D-A070A11D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7357521-A00E-B2A1-F457-D948D00C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649802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05213-12AE-6CD4-FFBA-5AE2B27DB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F553E986-3354-792E-C1ED-8002655BB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9374ABBD-AEC1-6E9C-7D0B-23501475D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46F4983-8FD9-D9B0-F94D-D9977C6EA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4BC184DD-E7C0-B482-49DF-377C47F47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7BBEC05-03DB-5CF6-82AB-5BCA8690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559C-0F19-43C8-A1E5-CF6E5F861D21}" type="datetime1">
              <a:rPr lang="da-DK" smtClean="0"/>
              <a:t>22-04-2026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1204539-29EF-5B9B-C772-B8CE0DD31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9D6AFCC-1B31-EF0E-4A00-B5CA1F7F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1823057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71010A-D2F8-E0E3-B5A7-568E9D24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A7B4F3B-2F00-43D0-081D-1A3850CE3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E7C2D-85D7-4702-B890-702C36AE9128}" type="datetime1">
              <a:rPr lang="da-DK" smtClean="0"/>
              <a:t>22-04-2026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28B372C-C89A-D870-1E08-C57FEF530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F798EBC-A9C5-D03D-C701-B7019C0F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2738539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D6CF1503-063B-FB97-8A34-62253DB64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5CFEA-B7AB-4D9B-AC35-1CF9136F942B}" type="datetime1">
              <a:rPr lang="da-DK" smtClean="0"/>
              <a:t>22-04-2026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57DA6F2-AD34-F48C-60ED-C3D25317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C23836C-C589-B82E-6EF4-6D1B9653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05727517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2A13FD-F290-ABD0-583C-D86F2F01B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3DB6CF-F07F-CF3D-1FE8-FCCA16F43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DFA81D0-11AC-D379-1B88-52DEF0BDC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04E80E5-E933-235C-A8BE-87A7A15E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761F-7661-47F8-BFAA-F3644C45B4F1}" type="datetime1">
              <a:rPr lang="da-DK" smtClean="0"/>
              <a:t>22-04-2026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CA101950-0C00-FF5B-69DC-980B12DA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3D25D43-C01F-898E-947C-5B736C76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2376837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319ACE-65C4-F7C5-4A66-DC55D7EB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D28E6C7-745A-C059-39B7-1556D55B67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D6F7DDE0-5792-747A-A171-358F04CCE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39378F4C-7B40-290E-AC0A-184C6480E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636D1-A74B-4339-83DC-3AC10AF76DE8}" type="datetime1">
              <a:rPr lang="da-DK" smtClean="0"/>
              <a:t>22-04-2026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FD2CEF0-C2D3-A2EC-9FEC-365B7666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058D538-9165-A2A6-084B-F2855580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1592061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1C54E-CE78-4B28-B5B7-2DE89428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9CEADF7-990C-CDAA-F734-38FE4DCDC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051D0D-5089-530D-1512-4FF74775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225F9-DCE1-48CF-A60C-3F140F9CBAD8}" type="datetime1">
              <a:rPr lang="da-DK" smtClean="0"/>
              <a:t>22-04-2026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38BF7C9-5C1C-750C-0406-15788579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C24D9CB-F416-6DB2-865F-95FCF2F5F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065274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320F32C6-976C-3B68-1B45-66A5A55DF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9786DBCD-D3C8-A4F6-9AF9-B80738A06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E276A2-1D23-D8B7-D3C3-5D705AAF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374F6-BA4E-45BD-9299-F0B4D2AEB753}" type="datetime1">
              <a:rPr lang="da-DK" smtClean="0"/>
              <a:t>22-04-2026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CED4DE2-4ACE-1171-1470-2FECF5A8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0986D5C-E4C1-0598-07C7-8B0BA416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577122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E5C346D-711A-32D0-673C-BBF51D509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849FE7A-F6F6-525C-3BDD-A633F3EC6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752E26C-0C81-374F-B5FD-95BDD09FC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99E16-850A-47CB-B103-1048DBDB4CCB}" type="datetime1">
              <a:rPr lang="da-DK" smtClean="0"/>
              <a:t>22-04-2026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9EEC06D-D19C-449A-EEE9-139DFA066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5664C8-FB83-198F-9DC5-E27BAB831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56B02-4AF6-4FAD-8624-917FD1E581F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9876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EB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48179-DE7C-7D65-D53F-F1BEFF17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739CA70D-9BE0-0084-BAE1-3598C7B60C15}"/>
              </a:ext>
            </a:extLst>
          </p:cNvPr>
          <p:cNvSpPr/>
          <p:nvPr/>
        </p:nvSpPr>
        <p:spPr>
          <a:xfrm>
            <a:off x="229969" y="5820504"/>
            <a:ext cx="5285161" cy="734132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C3DCE8A-3450-3756-F020-B8CA931B4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920" y="4767018"/>
            <a:ext cx="5514737" cy="73413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sz="1900" b="1" noProof="0">
                <a:solidFill>
                  <a:srgbClr val="94A9DC"/>
                </a:solidFill>
              </a:rPr>
              <a:t>Bachelor project, 2026</a:t>
            </a:r>
          </a:p>
          <a:p>
            <a:pPr algn="l"/>
            <a:r>
              <a:rPr lang="en-US" sz="1900" b="1">
                <a:solidFill>
                  <a:srgbClr val="94A9DC"/>
                </a:solidFill>
              </a:rPr>
              <a:t>Meeting 5, date: 14-04-2026</a:t>
            </a:r>
          </a:p>
        </p:txBody>
      </p:sp>
      <p:pic>
        <p:nvPicPr>
          <p:cNvPr id="11" name="Billede 10" descr="Et billede, der indeholder Font/skrifttype, Grafik, logo, design&#10;&#10;AI-genereret indhold kan være ukorrekt.">
            <a:extLst>
              <a:ext uri="{FF2B5EF4-FFF2-40B4-BE49-F238E27FC236}">
                <a16:creationId xmlns:a16="http://schemas.microsoft.com/office/drawing/2014/main" id="{58A9BEA7-4018-11C6-E1EC-880A95898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" y="249258"/>
            <a:ext cx="538449" cy="769213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C96A0BBB-BDA2-328E-E43F-B8A17B842215}"/>
              </a:ext>
            </a:extLst>
          </p:cNvPr>
          <p:cNvSpPr txBox="1">
            <a:spLocks/>
          </p:cNvSpPr>
          <p:nvPr/>
        </p:nvSpPr>
        <p:spPr>
          <a:xfrm>
            <a:off x="229969" y="5469149"/>
            <a:ext cx="3172076" cy="10977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200" b="1" noProof="0">
                <a:solidFill>
                  <a:srgbClr val="94A9DC"/>
                </a:solidFill>
              </a:rPr>
              <a:t>GROUP 3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Eske Freiesleben</a:t>
            </a: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Jacob Manniche</a:t>
            </a:r>
            <a:endParaRPr lang="en-US" sz="1200" noProof="0">
              <a:solidFill>
                <a:srgbClr val="94A9DC"/>
              </a:solidFill>
            </a:endParaRPr>
          </a:p>
          <a:p>
            <a:pPr algn="l"/>
            <a:r>
              <a:rPr lang="en-US" sz="1200" b="1" noProof="0">
                <a:solidFill>
                  <a:srgbClr val="94A9DC"/>
                </a:solidFill>
              </a:rPr>
              <a:t>J. Alfred Pedersen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7DD1288-530D-2107-76AC-2F6955790447}"/>
              </a:ext>
            </a:extLst>
          </p:cNvPr>
          <p:cNvSpPr txBox="1">
            <a:spLocks/>
          </p:cNvSpPr>
          <p:nvPr/>
        </p:nvSpPr>
        <p:spPr>
          <a:xfrm>
            <a:off x="3854296" y="5501149"/>
            <a:ext cx="1669953" cy="10731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200" b="1" noProof="0">
                <a:solidFill>
                  <a:srgbClr val="94A9DC"/>
                </a:solidFill>
              </a:rPr>
              <a:t>Student ID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S234229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S234258</a:t>
            </a:r>
            <a:endParaRPr lang="en-US" sz="1200" noProof="0">
              <a:solidFill>
                <a:srgbClr val="94A9DC"/>
              </a:solidFill>
            </a:endParaRPr>
          </a:p>
          <a:p>
            <a:pPr algn="r"/>
            <a:r>
              <a:rPr lang="en-US" sz="1200" b="1" noProof="0">
                <a:solidFill>
                  <a:srgbClr val="94A9DC"/>
                </a:solidFill>
              </a:rPr>
              <a:t>S230869</a:t>
            </a:r>
            <a:endParaRPr lang="en-US" sz="1200" noProof="0">
              <a:solidFill>
                <a:srgbClr val="94A9DC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6A5920-B537-C091-61E5-42EA09F8D89C}"/>
              </a:ext>
            </a:extLst>
          </p:cNvPr>
          <p:cNvSpPr/>
          <p:nvPr/>
        </p:nvSpPr>
        <p:spPr>
          <a:xfrm>
            <a:off x="6215908" y="366819"/>
            <a:ext cx="5611710" cy="6187817"/>
          </a:xfrm>
          <a:prstGeom prst="rect">
            <a:avLst/>
          </a:prstGeom>
          <a:solidFill>
            <a:srgbClr val="3655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a-D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32566417-13F7-C252-C7EA-202A4DBC891F}"/>
              </a:ext>
            </a:extLst>
          </p:cNvPr>
          <p:cNvSpPr txBox="1"/>
          <p:nvPr/>
        </p:nvSpPr>
        <p:spPr>
          <a:xfrm>
            <a:off x="4826000" y="32190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D4746D4-ECF6-A1C8-C827-186F51BB0915}"/>
              </a:ext>
            </a:extLst>
          </p:cNvPr>
          <p:cNvSpPr>
            <a:spLocks noGrp="1"/>
          </p:cNvSpPr>
          <p:nvPr/>
        </p:nvSpPr>
        <p:spPr>
          <a:xfrm>
            <a:off x="241173" y="2511598"/>
            <a:ext cx="9697490" cy="22478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sz="4800" b="1" noProof="0"/>
            </a:br>
            <a:r>
              <a:rPr lang="en-US" sz="4800" b="1">
                <a:solidFill>
                  <a:schemeClr val="bg1"/>
                </a:solidFill>
              </a:rPr>
              <a:t>Working title: </a:t>
            </a:r>
            <a:br>
              <a:rPr lang="en-US" sz="4800" b="1"/>
            </a:br>
            <a:r>
              <a:rPr lang="en-US" sz="4800" b="1">
                <a:solidFill>
                  <a:schemeClr val="bg1"/>
                </a:solidFill>
                <a:latin typeface="Aptos"/>
              </a:rPr>
              <a:t>RANS-Based Study on the Impact of Complex Terrain and Wind Effects on Golf ball Trajectories</a:t>
            </a:r>
            <a:endParaRPr lang="en-US" sz="4800" b="1" noProof="0">
              <a:solidFill>
                <a:schemeClr val="bg1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7963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EA254-36E2-F6C3-10D2-8B7ED8EF9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4E42E52F-03F7-EF4E-C84C-1E145D4AEA69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CE0264-D26C-A9BE-530B-B506B8997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Reworked title and research questions 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26C2E63-5C1D-E69B-79F1-F8DFD841711E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DD2D33E3-B8B2-9E8C-BDDE-390979F2FD81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B3CDFBA-49D0-E2A6-FEF1-645B19686210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323D23E1-C083-DC49-C2C1-D5CEA841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2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1D5D4F7F-BE72-EC12-AFBA-AD58BF125878}"/>
              </a:ext>
            </a:extLst>
          </p:cNvPr>
          <p:cNvSpPr txBox="1"/>
          <p:nvPr/>
        </p:nvSpPr>
        <p:spPr>
          <a:xfrm>
            <a:off x="260984" y="1220225"/>
            <a:ext cx="11717655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/>
              <a:t>Tentative title</a:t>
            </a:r>
          </a:p>
          <a:p>
            <a:r>
              <a:rPr lang="en-US" sz="2000"/>
              <a:t>RANS-Based Study on the Impact of Complex Terrain and Wind Effects on Golf ball Trajectories </a:t>
            </a:r>
          </a:p>
          <a:p>
            <a:r>
              <a:rPr lang="en-US" sz="2000" b="1"/>
              <a:t>Research questions</a:t>
            </a:r>
          </a:p>
          <a:p>
            <a:endParaRPr lang="en-US" sz="2000" b="1"/>
          </a:p>
          <a:p>
            <a:pPr marL="514350" indent="-514350">
              <a:buAutoNum type="romanUcPeriod"/>
            </a:pPr>
            <a:r>
              <a:rPr lang="en-US" sz="2000"/>
              <a:t>What meaningful differences arise in trajectories when comparing static uniform wind fields and wind fields from RANS simulations, for standardized golf shots over flat terrain?</a:t>
            </a:r>
          </a:p>
          <a:p>
            <a:pPr marL="514350" indent="-514350">
              <a:buAutoNum type="romanUcPeriod"/>
            </a:pPr>
            <a:endParaRPr lang="en-US" sz="2000"/>
          </a:p>
          <a:p>
            <a:pPr marL="514350" indent="-514350">
              <a:buAutoNum type="romanUcPeriod"/>
            </a:pPr>
            <a:r>
              <a:rPr lang="en-US" sz="2000"/>
              <a:t>How does wind direction and surface roughness impact trajectories for golf shots over flat terrain?</a:t>
            </a:r>
          </a:p>
          <a:p>
            <a:pPr marL="514350" indent="-514350">
              <a:buAutoNum type="romanUcPeriod"/>
            </a:pPr>
            <a:endParaRPr lang="en-US" sz="2000"/>
          </a:p>
          <a:p>
            <a:pPr marL="514350" indent="-514350">
              <a:buAutoNum type="romanUcPeriod"/>
            </a:pPr>
            <a:r>
              <a:rPr lang="en-US" sz="2000">
                <a:highlight>
                  <a:srgbClr val="FFFF00"/>
                </a:highlight>
              </a:rPr>
              <a:t>What is the impact of varying wind conditions in a fairway corridor lined by tree lines on both sides?</a:t>
            </a:r>
          </a:p>
          <a:p>
            <a:pPr lvl="1"/>
            <a:endParaRPr lang="en-US" sz="2000">
              <a:solidFill>
                <a:srgbClr val="3B5EB7"/>
              </a:solidFill>
              <a:highlight>
                <a:srgbClr val="FFFF00"/>
              </a:highlight>
            </a:endParaRPr>
          </a:p>
          <a:p>
            <a:pPr marL="514350" indent="-514350">
              <a:buAutoNum type="romanUcPeriod"/>
            </a:pPr>
            <a:r>
              <a:rPr lang="en-US" sz="2000"/>
              <a:t>Is there a meaningful impact on trajectory by including stochastic TKE-based variations to RANS simulated wind fields  </a:t>
            </a:r>
          </a:p>
        </p:txBody>
      </p:sp>
    </p:spTree>
    <p:extLst>
      <p:ext uri="{BB962C8B-B14F-4D97-AF65-F5344CB8AC3E}">
        <p14:creationId xmlns:p14="http://schemas.microsoft.com/office/powerpoint/2010/main" val="120084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80758-598C-5AC1-673D-F57FD6454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ECAE4132-6655-5B01-9D35-30A69C05BC93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A87E6A-CD75-E223-C9E4-002439CD88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G-bar/HPC update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0D29A8C-6F8A-D0AF-AD51-DCE2827D0CFC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2DB4C0E0-0536-5F9A-9F0D-2556030FF43B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3C72E96-7423-6039-71F0-79549549C9CB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52388660-7E99-9FBA-470F-0679956A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3</a:t>
            </a:fld>
            <a:endParaRPr lang="en-US" b="1" noProof="0">
              <a:solidFill>
                <a:srgbClr val="D6E1E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BCC40E36-8080-0116-A3F2-71A7C80FC1D6}"/>
                  </a:ext>
                </a:extLst>
              </p:cNvPr>
              <p:cNvSpPr txBox="1"/>
              <p:nvPr/>
            </p:nvSpPr>
            <p:spPr>
              <a:xfrm>
                <a:off x="213360" y="1062638"/>
                <a:ext cx="11765280" cy="347787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/>
                  <a:t>Successes</a:t>
                </a:r>
              </a:p>
              <a:p>
                <a:pPr marL="457200" indent="-457200">
                  <a:buAutoNum type="arabicPeriod"/>
                </a:pPr>
                <a:r>
                  <a:rPr lang="en-US" sz="2000"/>
                  <a:t>We have run the gaussian hill test simulation and it works now (thanks to Niels for taking the time to help)</a:t>
                </a:r>
              </a:p>
              <a:p>
                <a:pPr marL="457200" indent="-457200">
                  <a:buAutoNum type="arabicPeriod"/>
                </a:pPr>
                <a:r>
                  <a:rPr lang="en-US" sz="2000"/>
                  <a:t>We have created our own flat-terrain simulation with surface roughness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a-DK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a-DK" sz="2000" b="0" i="1" smtClean="0">
                        <a:latin typeface="Cambria Math" panose="02040503050406030204" pitchFamily="18" charset="0"/>
                      </a:rPr>
                      <m:t>=0.03</m:t>
                    </m:r>
                  </m:oMath>
                </a14:m>
                <a:r>
                  <a:rPr lang="en-US" sz="2000"/>
                  <a:t> (corresponding mown grass)</a:t>
                </a:r>
              </a:p>
              <a:p>
                <a:endParaRPr lang="en-US" sz="2000" b="1"/>
              </a:p>
              <a:p>
                <a:br>
                  <a:rPr lang="en-US" sz="2000" b="1"/>
                </a:br>
                <a:r>
                  <a:rPr lang="en-US" sz="2000" b="1"/>
                  <a:t>Still work in progress</a:t>
                </a:r>
              </a:p>
              <a:p>
                <a:pPr marL="457200" indent="-457200">
                  <a:buAutoNum type="arabicPeriod"/>
                </a:pPr>
                <a:r>
                  <a:rPr lang="en-US" sz="2000"/>
                  <a:t>We are still working on properly extracting the data from the .</a:t>
                </a:r>
                <a:r>
                  <a:rPr lang="en-US" sz="2000" err="1"/>
                  <a:t>nc</a:t>
                </a:r>
                <a:r>
                  <a:rPr lang="en-US" sz="2000"/>
                  <a:t> file, how it is structured and how to visualize the results from the RANS simulations (both Gaussian test and flat terrain). </a:t>
                </a:r>
              </a:p>
              <a:p>
                <a:pPr marL="457200" indent="-457200">
                  <a:buAutoNum type="arabicPeriod"/>
                </a:pPr>
                <a:r>
                  <a:rPr lang="en-US" sz="2000"/>
                  <a:t>We are working on getting </a:t>
                </a:r>
                <a:r>
                  <a:rPr lang="en-US" sz="2000" err="1"/>
                  <a:t>Jupyter</a:t>
                </a:r>
                <a:r>
                  <a:rPr lang="en-US" sz="2000"/>
                  <a:t> notebook up and running on the HPC</a:t>
                </a:r>
              </a:p>
            </p:txBody>
          </p:sp>
        </mc:Choice>
        <mc:Fallback xmlns=""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BCC40E36-8080-0116-A3F2-71A7C80FC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" y="1062638"/>
                <a:ext cx="11765280" cy="3477875"/>
              </a:xfrm>
              <a:prstGeom prst="rect">
                <a:avLst/>
              </a:prstGeom>
              <a:blipFill>
                <a:blip r:embed="rId3"/>
                <a:stretch>
                  <a:fillRect l="-570" t="-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805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F6996-3731-83EA-47E9-52CB16B9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433D46BC-871F-AD5A-5B92-1A30FC6365B7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28160B-D9A1-8209-BA4E-628F50B94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Trajectory model update</a:t>
            </a:r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7DE4E4D0-2FE4-FEAE-40C1-9C4BAE317DAE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91778F98-5C53-A5A1-DE76-F3E62C08FE72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000DEA4-3308-0A97-2720-B1BC4A138314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8F83E05D-0254-4039-8789-D776AF40E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4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3" name="Billede 2" descr="Et billede, der indeholder tekst, diagram, linje/række, Kurve&#10;&#10;AI-genereret indhold kan være ukorrekt.">
            <a:extLst>
              <a:ext uri="{FF2B5EF4-FFF2-40B4-BE49-F238E27FC236}">
                <a16:creationId xmlns:a16="http://schemas.microsoft.com/office/drawing/2014/main" id="{A755E41A-820E-94B6-249B-AB1836AE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060" y="983673"/>
            <a:ext cx="6480464" cy="5271654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D2909C2A-5766-D56F-F48E-FEE2272F32FC}"/>
              </a:ext>
            </a:extLst>
          </p:cNvPr>
          <p:cNvSpPr txBox="1"/>
          <p:nvPr/>
        </p:nvSpPr>
        <p:spPr>
          <a:xfrm>
            <a:off x="281125" y="1154097"/>
            <a:ext cx="500108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a-DK" sz="2800"/>
              <a:t>Decay rate seems to have very little effect on trajectory.</a:t>
            </a:r>
          </a:p>
          <a:p>
            <a:endParaRPr lang="da-DK" sz="2800"/>
          </a:p>
          <a:p>
            <a:r>
              <a:rPr lang="da-DK" sz="2800"/>
              <a:t>Error or reality?</a:t>
            </a:r>
          </a:p>
        </p:txBody>
      </p:sp>
    </p:spTree>
    <p:extLst>
      <p:ext uri="{BB962C8B-B14F-4D97-AF65-F5344CB8AC3E}">
        <p14:creationId xmlns:p14="http://schemas.microsoft.com/office/powerpoint/2010/main" val="3041375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41A06-4469-75DB-0A58-678466EB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DFA71CE1-676C-1612-BF02-AFAEB38DFCF0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636F17-CDFB-0CD2-79A4-0A26DDC78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Trajectory model update</a:t>
            </a:r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B8280AF-5522-F02E-E00F-5E08DEE446B6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88C49A58-8324-1A75-7F1B-2ACEF3A8BA54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64496BA-0D86-E7BE-5642-FB52EBDC0546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444A3157-C017-8952-9EC8-177FC952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5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4" name="Billede 3" descr="Et billede, der indeholder tekst, diagram, linje/række, Kurve&#10;&#10;AI-genereret indhold kan være ukorrekt.">
            <a:extLst>
              <a:ext uri="{FF2B5EF4-FFF2-40B4-BE49-F238E27FC236}">
                <a16:creationId xmlns:a16="http://schemas.microsoft.com/office/drawing/2014/main" id="{C10379D8-C2B9-CBE2-9DE2-D8B0B1963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" y="1717963"/>
            <a:ext cx="5621482" cy="4572000"/>
          </a:xfrm>
          <a:prstGeom prst="rect">
            <a:avLst/>
          </a:prstGeom>
        </p:spPr>
      </p:pic>
      <p:pic>
        <p:nvPicPr>
          <p:cNvPr id="6" name="Billede 5" descr="Et billede, der indeholder tekst, diagram, linje/række, Kurve&#10;&#10;AI-genereret indhold kan være ukorrekt.">
            <a:extLst>
              <a:ext uri="{FF2B5EF4-FFF2-40B4-BE49-F238E27FC236}">
                <a16:creationId xmlns:a16="http://schemas.microsoft.com/office/drawing/2014/main" id="{48190BB1-44F3-545B-525C-75BE0AD5F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49" y="1724890"/>
            <a:ext cx="5732319" cy="4565074"/>
          </a:xfrm>
          <a:prstGeom prst="rect">
            <a:avLst/>
          </a:prstGeom>
        </p:spPr>
      </p:pic>
      <p:pic>
        <p:nvPicPr>
          <p:cNvPr id="7" name="Billede 6" descr="Et billede, der indeholder tekst, Font/skrifttype, hvid, håndskrift&#10;&#10;AI-genereret indhold kan være ukorrekt.">
            <a:extLst>
              <a:ext uri="{FF2B5EF4-FFF2-40B4-BE49-F238E27FC236}">
                <a16:creationId xmlns:a16="http://schemas.microsoft.com/office/drawing/2014/main" id="{9E382722-A06C-7B1C-A6F4-3300DABE8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5799" y="998393"/>
            <a:ext cx="2848842" cy="711779"/>
          </a:xfrm>
          <a:prstGeom prst="rect">
            <a:avLst/>
          </a:prstGeom>
        </p:spPr>
      </p:pic>
      <p:pic>
        <p:nvPicPr>
          <p:cNvPr id="10" name="Billede 9" descr="Et billede, der indeholder Font/skrifttype, tekst, håndskrift, kalligrafi&#10;&#10;AI-genereret indhold kan være ukorrekt.">
            <a:extLst>
              <a:ext uri="{FF2B5EF4-FFF2-40B4-BE49-F238E27FC236}">
                <a16:creationId xmlns:a16="http://schemas.microsoft.com/office/drawing/2014/main" id="{E841FB87-3960-A43A-540B-EA8DA682E2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1060" y="970684"/>
            <a:ext cx="2447060" cy="704850"/>
          </a:xfrm>
          <a:prstGeom prst="rect">
            <a:avLst/>
          </a:prstGeom>
        </p:spPr>
      </p:pic>
      <p:pic>
        <p:nvPicPr>
          <p:cNvPr id="13" name="Billede 12" descr="Et billede, der indeholder tekst, Font/skrifttype, hvid, linje/række&#10;&#10;AI-genereret indhold kan være ukorrekt.">
            <a:extLst>
              <a:ext uri="{FF2B5EF4-FFF2-40B4-BE49-F238E27FC236}">
                <a16:creationId xmlns:a16="http://schemas.microsoft.com/office/drawing/2014/main" id="{0601575B-DD47-355B-0CEB-2FB68E893F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39" y="1321376"/>
            <a:ext cx="1958687" cy="432957"/>
          </a:xfrm>
          <a:prstGeom prst="rect">
            <a:avLst/>
          </a:prstGeom>
        </p:spPr>
      </p:pic>
      <p:sp>
        <p:nvSpPr>
          <p:cNvPr id="14" name="Tekstfelt 13">
            <a:extLst>
              <a:ext uri="{FF2B5EF4-FFF2-40B4-BE49-F238E27FC236}">
                <a16:creationId xmlns:a16="http://schemas.microsoft.com/office/drawing/2014/main" id="{8DA415F1-C7FD-FEA2-663C-B9338FFCCF25}"/>
              </a:ext>
            </a:extLst>
          </p:cNvPr>
          <p:cNvSpPr txBox="1"/>
          <p:nvPr/>
        </p:nvSpPr>
        <p:spPr>
          <a:xfrm>
            <a:off x="7121237" y="1143000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A.J. Smits, 1994</a:t>
            </a:r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15F6992D-7E62-1D05-7D79-A5B375AEE47B}"/>
              </a:ext>
            </a:extLst>
          </p:cNvPr>
          <p:cNvSpPr txBox="1"/>
          <p:nvPr/>
        </p:nvSpPr>
        <p:spPr>
          <a:xfrm>
            <a:off x="443345" y="102523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Baek, 2013</a:t>
            </a:r>
          </a:p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127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0B012-A91A-8B66-AC81-D6C8EB719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21A43627-7648-D375-C153-0AAD9E4E018E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303FDB-D6CE-7793-27AC-677B6BC76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Trajectory model update: </a:t>
            </a:r>
            <a:r>
              <a:rPr lang="en-US" sz="4800" b="1" err="1">
                <a:solidFill>
                  <a:schemeClr val="bg1"/>
                </a:solidFill>
              </a:rPr>
              <a:t>Carry</a:t>
            </a:r>
            <a:endParaRPr lang="da-DK" err="1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C0844ADC-1093-DEED-1C79-D4E29ED303E1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49B5663A-0B7D-A687-631B-FA66050C1886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790D8DA9-C54D-275A-3842-E30AC1C099DA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DC709C84-C88A-5AD3-2737-2678EBBE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6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7" name="Billede 6" descr="Et billede, der indeholder tekst, Font/skrifttype, hvid, håndskrift&#10;&#10;AI-genereret indhold kan være ukorrekt.">
            <a:extLst>
              <a:ext uri="{FF2B5EF4-FFF2-40B4-BE49-F238E27FC236}">
                <a16:creationId xmlns:a16="http://schemas.microsoft.com/office/drawing/2014/main" id="{E866169D-7710-3B35-AA10-A34484FA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69" y="997088"/>
            <a:ext cx="2848842" cy="711779"/>
          </a:xfrm>
          <a:prstGeom prst="rect">
            <a:avLst/>
          </a:prstGeom>
        </p:spPr>
      </p:pic>
      <p:pic>
        <p:nvPicPr>
          <p:cNvPr id="10" name="Billede 9" descr="Et billede, der indeholder Font/skrifttype, tekst, håndskrift, kalligrafi&#10;&#10;AI-genereret indhold kan være ukorrekt.">
            <a:extLst>
              <a:ext uri="{FF2B5EF4-FFF2-40B4-BE49-F238E27FC236}">
                <a16:creationId xmlns:a16="http://schemas.microsoft.com/office/drawing/2014/main" id="{20A1FF1B-C309-9B74-54DB-3E2011A92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346" y="1110334"/>
            <a:ext cx="2447060" cy="704850"/>
          </a:xfrm>
          <a:prstGeom prst="rect">
            <a:avLst/>
          </a:prstGeom>
        </p:spPr>
      </p:pic>
      <p:pic>
        <p:nvPicPr>
          <p:cNvPr id="13" name="Billede 12" descr="Et billede, der indeholder tekst, Font/skrifttype, hvid, linje/række&#10;&#10;AI-genereret indhold kan være ukorrekt.">
            <a:extLst>
              <a:ext uri="{FF2B5EF4-FFF2-40B4-BE49-F238E27FC236}">
                <a16:creationId xmlns:a16="http://schemas.microsoft.com/office/drawing/2014/main" id="{57995CF8-E69D-A59E-7791-84DC9F8B7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7479" y="1105527"/>
            <a:ext cx="2138796" cy="509156"/>
          </a:xfrm>
          <a:prstGeom prst="rect">
            <a:avLst/>
          </a:prstGeom>
        </p:spPr>
      </p:pic>
      <p:pic>
        <p:nvPicPr>
          <p:cNvPr id="3" name="Billede 2" descr="Et billede, der indeholder tekst, diagram, Kurve, linje/række&#10;&#10;AI-genereret indhold kan være ukorrekt.">
            <a:extLst>
              <a:ext uri="{FF2B5EF4-FFF2-40B4-BE49-F238E27FC236}">
                <a16:creationId xmlns:a16="http://schemas.microsoft.com/office/drawing/2014/main" id="{FB6F6451-8F7F-EA09-1353-E5CB30E1FF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39" r="57035" b="-128"/>
          <a:stretch>
            <a:fillRect/>
          </a:stretch>
        </p:blipFill>
        <p:spPr>
          <a:xfrm>
            <a:off x="1833217" y="1747836"/>
            <a:ext cx="3924649" cy="4543913"/>
          </a:xfrm>
          <a:prstGeom prst="rect">
            <a:avLst/>
          </a:prstGeom>
        </p:spPr>
      </p:pic>
      <p:pic>
        <p:nvPicPr>
          <p:cNvPr id="14" name="Billede 13" descr="Et billede, der indeholder tekst, diagram, Kurve, nummer/tal&#10;&#10;AI-genereret indhold kan være ukorrekt.">
            <a:extLst>
              <a:ext uri="{FF2B5EF4-FFF2-40B4-BE49-F238E27FC236}">
                <a16:creationId xmlns:a16="http://schemas.microsoft.com/office/drawing/2014/main" id="{0162BBE0-C495-737A-8EA9-ADA3D8D6C0D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8" r="56871" b="-472"/>
          <a:stretch>
            <a:fillRect/>
          </a:stretch>
        </p:blipFill>
        <p:spPr>
          <a:xfrm>
            <a:off x="5758792" y="1750444"/>
            <a:ext cx="3930945" cy="45567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9ABABD-CE13-BFCC-7388-C65E3D9A97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1827" y="2025922"/>
            <a:ext cx="14192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6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9B1EBA-B0CE-3EC1-326D-378E04864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18A36D74-9DE7-58A9-9C74-959EE5D50FE9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39831A8-5560-CF3A-DA68-EDFB10B04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Trajectory model update: Max height</a:t>
            </a:r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FED0707-C8BF-128B-C27D-3FDEF8E4C0DC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0F92BCFE-CD3D-05D5-A98B-C4845FF3C490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569CD870-CE37-FA90-6C92-BD882E9EC840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8C6611EC-8B75-31AD-32C9-54D6B43B7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7</a:t>
            </a:fld>
            <a:endParaRPr lang="en-US" b="1" noProof="0">
              <a:solidFill>
                <a:srgbClr val="D6E1E1"/>
              </a:solidFill>
            </a:endParaRPr>
          </a:p>
        </p:txBody>
      </p:sp>
      <p:pic>
        <p:nvPicPr>
          <p:cNvPr id="7" name="Billede 6" descr="Et billede, der indeholder tekst, Font/skrifttype, hvid, håndskrift&#10;&#10;AI-genereret indhold kan være ukorrekt.">
            <a:extLst>
              <a:ext uri="{FF2B5EF4-FFF2-40B4-BE49-F238E27FC236}">
                <a16:creationId xmlns:a16="http://schemas.microsoft.com/office/drawing/2014/main" id="{1A0353C5-3E0A-510C-9051-76235031D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199" y="1019175"/>
            <a:ext cx="2848842" cy="711779"/>
          </a:xfrm>
          <a:prstGeom prst="rect">
            <a:avLst/>
          </a:prstGeom>
        </p:spPr>
      </p:pic>
      <p:pic>
        <p:nvPicPr>
          <p:cNvPr id="10" name="Billede 9" descr="Et billede, der indeholder Font/skrifttype, tekst, håndskrift, kalligrafi&#10;&#10;AI-genereret indhold kan være ukorrekt.">
            <a:extLst>
              <a:ext uri="{FF2B5EF4-FFF2-40B4-BE49-F238E27FC236}">
                <a16:creationId xmlns:a16="http://schemas.microsoft.com/office/drawing/2014/main" id="{62BFBBAC-660E-6805-6967-559AA8C04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280" y="1082196"/>
            <a:ext cx="2447060" cy="704850"/>
          </a:xfrm>
          <a:prstGeom prst="rect">
            <a:avLst/>
          </a:prstGeom>
        </p:spPr>
      </p:pic>
      <p:pic>
        <p:nvPicPr>
          <p:cNvPr id="13" name="Billede 12" descr="Et billede, der indeholder tekst, Font/skrifttype, hvid, linje/række&#10;&#10;AI-genereret indhold kan være ukorrekt.">
            <a:extLst>
              <a:ext uri="{FF2B5EF4-FFF2-40B4-BE49-F238E27FC236}">
                <a16:creationId xmlns:a16="http://schemas.microsoft.com/office/drawing/2014/main" id="{A71BA217-B504-755D-43C2-69D39B9664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4784" y="1182831"/>
            <a:ext cx="2138796" cy="509156"/>
          </a:xfrm>
          <a:prstGeom prst="rect">
            <a:avLst/>
          </a:prstGeom>
        </p:spPr>
      </p:pic>
      <p:pic>
        <p:nvPicPr>
          <p:cNvPr id="3" name="Billede 2" descr="Et billede, der indeholder tekst, diagram, Kurve, linje/række&#10;&#10;AI-genereret indhold kan være ukorrekt.">
            <a:extLst>
              <a:ext uri="{FF2B5EF4-FFF2-40B4-BE49-F238E27FC236}">
                <a16:creationId xmlns:a16="http://schemas.microsoft.com/office/drawing/2014/main" id="{C1CE4EF4-0033-BBE8-7976-D21C51FF9E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362" t="478" r="15098" b="-94"/>
          <a:stretch>
            <a:fillRect/>
          </a:stretch>
        </p:blipFill>
        <p:spPr>
          <a:xfrm>
            <a:off x="1786485" y="1734941"/>
            <a:ext cx="3803459" cy="4559691"/>
          </a:xfrm>
          <a:prstGeom prst="rect">
            <a:avLst/>
          </a:prstGeom>
        </p:spPr>
      </p:pic>
      <p:pic>
        <p:nvPicPr>
          <p:cNvPr id="14" name="Billede 13" descr="Et billede, der indeholder tekst, diagram, Kurve, nummer/tal&#10;&#10;AI-genereret indhold kan være ukorrekt.">
            <a:extLst>
              <a:ext uri="{FF2B5EF4-FFF2-40B4-BE49-F238E27FC236}">
                <a16:creationId xmlns:a16="http://schemas.microsoft.com/office/drawing/2014/main" id="{7F74BE7A-9AC3-3050-C680-0E943A02B2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2642" r="-257"/>
          <a:stretch>
            <a:fillRect/>
          </a:stretch>
        </p:blipFill>
        <p:spPr>
          <a:xfrm>
            <a:off x="5682119" y="1735495"/>
            <a:ext cx="5152985" cy="455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5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7DE5B-4449-7EF4-DBAA-24A88B8C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233D4CB3-CE91-B0A3-A326-14D72EA560E8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C8522E-8322-788F-301A-8A4357635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Trajectory: Uniform vs log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42D15C1A-09A3-B7EC-1A2A-0BECF3FAE656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ADC18C2-523A-C7C0-80E5-C3D1974D8B96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6084625A-1339-C6AA-A712-4F836336BC06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BA371464-4428-11E1-3CBA-A7202519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8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C2E879-78A6-38C5-1E44-7095AC4AA6A3}"/>
              </a:ext>
            </a:extLst>
          </p:cNvPr>
          <p:cNvSpPr txBox="1"/>
          <p:nvPr/>
        </p:nvSpPr>
        <p:spPr>
          <a:xfrm>
            <a:off x="213360" y="1062638"/>
            <a:ext cx="1176528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Logarithmic wind</a:t>
            </a:r>
          </a:p>
          <a:p>
            <a:r>
              <a:rPr lang="en-US" sz="2000"/>
              <a:t>U(z)=(u*/kappa)*ln(z/z0)</a:t>
            </a:r>
          </a:p>
          <a:p>
            <a:endParaRPr lang="en-US" sz="2000"/>
          </a:p>
          <a:p>
            <a:r>
              <a:rPr lang="en-US" sz="2000" b="1"/>
              <a:t>Uniform wind</a:t>
            </a:r>
          </a:p>
          <a:p>
            <a:r>
              <a:rPr lang="en-US" sz="2000"/>
              <a:t>Calculated as the average wind speed of U(z) in the domain from the ground to the highest point in the log wind golf ball trajectory </a:t>
            </a:r>
          </a:p>
          <a:p>
            <a:endParaRPr lang="en-US" sz="2000"/>
          </a:p>
          <a:p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35734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D18A7-2E51-33BB-ABBE-89EA416DF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873D37E7-5D34-77D7-0CFC-CEE21F45E905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E86B35-F6A8-6426-0149-00FEFF79E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Uniform vs log: roughness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1087C2FB-C0F6-E675-8D67-318DA4CFB198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2A55DD22-B569-8A98-84B0-842F061A61B4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CBC9BF85-4521-098C-E597-A0C48945B9EA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77E9EA62-FBF9-78FF-AB3C-415DF1A4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9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04BB06-783C-EB4B-7A49-1C0C2B49C963}"/>
              </a:ext>
            </a:extLst>
          </p:cNvPr>
          <p:cNvSpPr txBox="1"/>
          <p:nvPr/>
        </p:nvSpPr>
        <p:spPr>
          <a:xfrm>
            <a:off x="123713" y="5791520"/>
            <a:ext cx="117652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For a standardized shot with; speed = 76.4 m/s, angle = 10.4, spin= -2545 rpm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BCACDA-F090-F8DC-F76A-98C058C96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8" y="1100137"/>
            <a:ext cx="11287125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8C22D-7D69-3D6C-B140-C102241E1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3853A506-DF3A-C05A-D5F3-4F97A31C9672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A35DB76-EDBD-1B48-3F35-963C51714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Uniform vs log: Wind direction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B64D98F-82FE-1C66-B4CD-FF62F434C5B7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73D781CA-41D0-D252-4635-8901F1AEFCDF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63871D1-DD54-3048-910B-A14B7D835E15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D896C1DA-3E39-FFDC-86AE-ECDD56DA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10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43752-0794-E124-FC8A-519C2AC1FAE6}"/>
              </a:ext>
            </a:extLst>
          </p:cNvPr>
          <p:cNvSpPr txBox="1"/>
          <p:nvPr/>
        </p:nvSpPr>
        <p:spPr>
          <a:xfrm>
            <a:off x="134756" y="5791520"/>
            <a:ext cx="117652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For a standardized shot with; speed = 76.4 m/s, angle = 10.4, spin= -2545 rpm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F79ADE-57B9-4661-A729-0702CE8BF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8" y="1095375"/>
            <a:ext cx="112871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8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FA5EC-45A1-9970-1C47-A0374BD38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: afrundede hjørner 11">
            <a:extLst>
              <a:ext uri="{FF2B5EF4-FFF2-40B4-BE49-F238E27FC236}">
                <a16:creationId xmlns:a16="http://schemas.microsoft.com/office/drawing/2014/main" id="{4C64826B-7047-D573-0089-057017927090}"/>
              </a:ext>
            </a:extLst>
          </p:cNvPr>
          <p:cNvSpPr/>
          <p:nvPr/>
        </p:nvSpPr>
        <p:spPr>
          <a:xfrm>
            <a:off x="213360" y="361542"/>
            <a:ext cx="11765280" cy="581420"/>
          </a:xfrm>
          <a:prstGeom prst="round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F9E8081-789E-4B75-6EB8-A4B97CB98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60" y="281412"/>
            <a:ext cx="11765280" cy="74168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b="1">
                <a:solidFill>
                  <a:schemeClr val="bg1"/>
                </a:solidFill>
              </a:rPr>
              <a:t>Important date</a:t>
            </a:r>
            <a:endParaRPr lang="da-DK">
              <a:solidFill>
                <a:schemeClr val="bg1"/>
              </a:solidFill>
            </a:endParaRP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78D24C8-A213-D92D-96C5-32ABB94F0802}"/>
              </a:ext>
            </a:extLst>
          </p:cNvPr>
          <p:cNvSpPr/>
          <p:nvPr/>
        </p:nvSpPr>
        <p:spPr>
          <a:xfrm>
            <a:off x="0" y="6295234"/>
            <a:ext cx="12192000" cy="562708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F6DE0C4A-AD97-53C5-04B1-3D010C357E28}"/>
              </a:ext>
            </a:extLst>
          </p:cNvPr>
          <p:cNvSpPr txBox="1"/>
          <p:nvPr/>
        </p:nvSpPr>
        <p:spPr>
          <a:xfrm>
            <a:off x="0" y="6334780"/>
            <a:ext cx="559816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noProof="0">
                <a:solidFill>
                  <a:srgbClr val="D6E1E1"/>
                </a:solidFill>
              </a:rPr>
              <a:t>Bachelor project: </a:t>
            </a:r>
          </a:p>
          <a:p>
            <a:r>
              <a:rPr lang="en-US" sz="1400" b="1" noProof="0">
                <a:solidFill>
                  <a:srgbClr val="D6E1E1"/>
                </a:solidFill>
              </a:rPr>
              <a:t>CFD and ROM of Flow over a Golf Court</a:t>
            </a:r>
            <a:endParaRPr lang="en-US" sz="1400" noProof="0">
              <a:solidFill>
                <a:srgbClr val="D6E1E1"/>
              </a:solidFill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194CB29B-DBDC-6B97-3010-414CA8F89EE6}"/>
              </a:ext>
            </a:extLst>
          </p:cNvPr>
          <p:cNvSpPr/>
          <p:nvPr/>
        </p:nvSpPr>
        <p:spPr>
          <a:xfrm>
            <a:off x="0" y="0"/>
            <a:ext cx="12192000" cy="162560"/>
          </a:xfrm>
          <a:prstGeom prst="rect">
            <a:avLst/>
          </a:prstGeom>
          <a:solidFill>
            <a:srgbClr val="3B5E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Pladsholder til slidenummer 10">
            <a:extLst>
              <a:ext uri="{FF2B5EF4-FFF2-40B4-BE49-F238E27FC236}">
                <a16:creationId xmlns:a16="http://schemas.microsoft.com/office/drawing/2014/main" id="{ABB25D95-D3D6-7596-1F2C-2EF3F4C6A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7680" y="6413826"/>
            <a:ext cx="2743200" cy="365125"/>
          </a:xfrm>
        </p:spPr>
        <p:txBody>
          <a:bodyPr/>
          <a:lstStyle/>
          <a:p>
            <a:fld id="{4BF56B02-4AF6-4FAD-8624-917FD1E581F9}" type="slidenum">
              <a:rPr lang="en-US" sz="1600" b="1" noProof="0" smtClean="0">
                <a:solidFill>
                  <a:srgbClr val="D6E1E1"/>
                </a:solidFill>
              </a:rPr>
              <a:t>11</a:t>
            </a:fld>
            <a:endParaRPr lang="en-US" b="1" noProof="0">
              <a:solidFill>
                <a:srgbClr val="D6E1E1"/>
              </a:solidFill>
            </a:endParaRP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5D57ACCE-512E-F402-6C6D-F1DECE36E600}"/>
              </a:ext>
            </a:extLst>
          </p:cNvPr>
          <p:cNvSpPr txBox="1"/>
          <p:nvPr/>
        </p:nvSpPr>
        <p:spPr>
          <a:xfrm>
            <a:off x="0" y="1530927"/>
            <a:ext cx="6096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a-DK" sz="2000"/>
              <a:t>Final oral defense possible before june 4th?</a:t>
            </a:r>
          </a:p>
        </p:txBody>
      </p:sp>
    </p:spTree>
    <p:extLst>
      <p:ext uri="{BB962C8B-B14F-4D97-AF65-F5344CB8AC3E}">
        <p14:creationId xmlns:p14="http://schemas.microsoft.com/office/powerpoint/2010/main" val="346520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12847B99347FF4083334DC9135B7BA4" ma:contentTypeVersion="3" ma:contentTypeDescription="Opret et nyt dokument." ma:contentTypeScope="" ma:versionID="1a786b5c107794d200a9d3bcaa41f2c4">
  <xsd:schema xmlns:xsd="http://www.w3.org/2001/XMLSchema" xmlns:xs="http://www.w3.org/2001/XMLSchema" xmlns:p="http://schemas.microsoft.com/office/2006/metadata/properties" xmlns:ns2="e96c79e5-61d3-4198-a281-6c3eb0006017" targetNamespace="http://schemas.microsoft.com/office/2006/metadata/properties" ma:root="true" ma:fieldsID="196022ccb88252a9af80d479eff89362" ns2:_="">
    <xsd:import namespace="e96c79e5-61d3-4198-a281-6c3eb00060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c79e5-61d3-4198-a281-6c3eb00060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30616D5-3EEA-47E7-9E4B-D08F23AF60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00B931-8A2D-411D-96B4-9DDF2F5F4796}">
  <ds:schemaRefs>
    <ds:schemaRef ds:uri="e96c79e5-61d3-4198-a281-6c3eb00060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F8528A-EB0F-494F-AC92-C8DAF21C688A}">
  <ds:schemaRefs>
    <ds:schemaRef ds:uri="http://purl.org/dc/dcmitype/"/>
    <ds:schemaRef ds:uri="http://www.w3.org/XML/1998/namespace"/>
    <ds:schemaRef ds:uri="http://schemas.microsoft.com/office/2006/metadata/properties"/>
    <ds:schemaRef ds:uri="e96c79e5-61d3-4198-a281-6c3eb0006017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25-03-2026</Template>
  <TotalTime>0</TotalTime>
  <Words>549</Words>
  <Application>Microsoft Office PowerPoint</Application>
  <PresentationFormat>Widescreen</PresentationFormat>
  <Paragraphs>93</Paragraphs>
  <Slides>11</Slides>
  <Notes>11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Office-tema</vt:lpstr>
      <vt:lpstr>PowerPoint-præsentation</vt:lpstr>
      <vt:lpstr>Reworked title and research questions </vt:lpstr>
      <vt:lpstr>G-bar/HPC update</vt:lpstr>
      <vt:lpstr>Trajectory model update</vt:lpstr>
      <vt:lpstr>Trajectory model update</vt:lpstr>
      <vt:lpstr>Trajectory model update: Carry</vt:lpstr>
      <vt:lpstr>Trajectory model update: Max height</vt:lpstr>
      <vt:lpstr>Trajectory: Uniform vs log</vt:lpstr>
      <vt:lpstr>Uniform vs log: roughness</vt:lpstr>
      <vt:lpstr>Uniform vs log: Wind direction</vt:lpstr>
      <vt:lpstr>Important 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Alfred Pedersen</dc:creator>
  <cp:lastModifiedBy>Jens Alfred Pedersen</cp:lastModifiedBy>
  <cp:revision>2</cp:revision>
  <dcterms:created xsi:type="dcterms:W3CDTF">2026-04-06T14:10:05Z</dcterms:created>
  <dcterms:modified xsi:type="dcterms:W3CDTF">2026-04-22T07:11:19Z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0x010100C12847B99347FF4083334DC9135B7BA4</vt:lpwstr>
  </property>
</Properties>
</file>